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charts/chartEx8.xml" ContentType="application/vnd.ms-office.chartex+xml"/>
  <Override PartName="/ppt/charts/colors8.xml" ContentType="application/vnd.ms-office.chartcolorstyle+xml"/>
  <Override PartName="/ppt/charts/style8.xml" ContentType="application/vnd.ms-office.chartstyl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r:id="rId23-created" id="256"/>
  </p:sldIdLst>
  <p:sldSz cx="12192000" cy="6858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Helvetica Neue" panose="02000503000000020004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hZSYr+vVZ+KJ4E1GAgIhBUKXCz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E00120"/>
    <a:srgbClr val="99001E"/>
    <a:srgbClr val="6E6E6E"/>
    <a:srgbClr val="E001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05"/>
    <p:restoredTop sz="90361"/>
  </p:normalViewPr>
  <p:slideViewPr>
    <p:cSldViewPr snapToGrid="0">
      <p:cViewPr>
        <p:scale>
          <a:sx n="119" d="100"/>
          <a:sy n="119" d="100"/>
        </p:scale>
        <p:origin x="90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Relationship Id="rId23-created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orscsak/Downloads/MOL_Group_Q1-Q3_2025_Charts_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orscsak/Downloads/MOL_Group_Q1-Q3_2025_Charts_Data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orscsak/Downloads/MOL_Group_Q1-Q3_2025_Charts_Data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orscsak/Downloads/MOL_Group_Q1-Q3_2025_Charts_Data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orscsak/Downloads/MOL_Group_Q1-Q3_2025_Charts_Data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file:////Users/orscsak/Downloads/MOL_Group_Q1-Q3_2025_Charts_Data.xlsx" TargetMode="External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3.xlsx"/></Relationships>
</file>

<file path=ppt/charts/_rels/chartEx8.xml.rels><?xml version="1.0" encoding="UTF-8" standalone="yes"?>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-created-8.xlsx"/></Relationships>
</file>

<file path=ppt/charts/chartEx8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Sheet1!$A$2:$A$14</cx:f>
        <cx:lvl ptCount="13">
          <cx:pt idx="0">Clean CCS
EBITDA</cx:pt>
          <cx:pt idx="1">CCS
modifications</cx:pt>
          <cx:pt idx="2">EBITDA excl.
special items</cx:pt>
          <cx:pt idx="3">Special items
(EBITDA)</cx:pt>
          <cx:pt idx="4">DD&amp;A and
impairments</cx:pt>
          <cx:pt idx="5">Profit from
operation</cx:pt>
          <cx:pt idx="6">Total finance
expense/gain,
net</cx:pt>
          <cx:pt idx="7">Income from
associates</cx:pt>
          <cx:pt idx="8">Profit
before tax</cx:pt>
          <cx:pt idx="9">Income tax
expense</cx:pt>
          <cx:pt idx="10">Profit for
the period</cx:pt>
          <cx:pt idx="11">Non-controlling
interests</cx:pt>
          <cx:pt idx="12">Profit for the
period to
equity holders
of the parent</cx:pt>
        </cx:lvl>
      </cx:strDim>
      <cx:numDim type="val">
        <cx:f>Sheet1!$B$2:$B$14</cx:f>
        <cx:lvl ptCount="13" formatCode="General">
          <cx:pt idx="0">2491</cx:pt>
          <cx:pt idx="1">-176</cx:pt>
          <cx:pt idx="2">2315</cx:pt>
          <cx:pt idx="3">0</cx:pt>
          <cx:pt idx="4">-1154</cx:pt>
          <cx:pt idx="5">1161</cx:pt>
          <cx:pt idx="6">62</cx:pt>
          <cx:pt idx="7">62</cx:pt>
          <cx:pt idx="8">1285</cx:pt>
          <cx:pt idx="9">-425</cx:pt>
          <cx:pt idx="10">860</cx:pt>
          <cx:pt idx="11">-85</cx:pt>
          <cx:pt idx="12">775</cx:pt>
        </cx:lvl>
      </cx:numDim>
    </cx:data>
  </cx:chartData>
  <cx:chart>
    <cx:plotArea>
      <cx:plotAreaRegion>
        <cx:series layoutId="waterfall" uniqueId="{DEC26F3D-04BC-AD43-AC8A-C611B5377186}">
          <cx:tx>
            <cx:txData>
              <cx:f>Sheet1!$B$1</cx:f>
              <cx:v>Value</cx:v>
            </cx:txData>
          </cx:tx>
          <cx:spPr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99001E"/>
              </a:solidFill>
            </cx:spPr>
          </cx:dataPt>
          <cx:dataPt idx="3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E00120"/>
              </a:solidFill>
            </cx:spPr>
          </cx:dataPt>
          <cx:dataPt idx="5">
            <cx:spPr>
              <a:solidFill>
                <a:srgbClr val="99001E"/>
              </a:solidFill>
            </cx:spPr>
          </cx:dataPt>
          <cx:dataPt idx="6">
            <cx:spPr>
              <a:solidFill>
                <a:srgbClr val="E00120"/>
              </a:solidFill>
            </cx:spPr>
          </cx:dataPt>
          <cx:dataPt idx="7">
            <cx:spPr>
              <a:solidFill>
                <a:srgbClr val="E00120"/>
              </a:solidFill>
            </cx:spPr>
          </cx:dataPt>
          <cx:dataPt idx="8">
            <cx:spPr>
              <a:solidFill>
                <a:srgbClr val="99001E"/>
              </a:solidFill>
            </cx:spPr>
          </cx:dataPt>
          <cx:dataPt idx="9">
            <cx:spPr>
              <a:solidFill>
                <a:srgbClr val="E00120"/>
              </a:solidFill>
            </cx:spPr>
          </cx:dataPt>
          <cx:dataPt idx="10">
            <cx:spPr>
              <a:solidFill>
                <a:srgbClr val="99001E"/>
              </a:solidFill>
            </cx:spPr>
          </cx:dataPt>
          <cx:dataPt idx="11">
            <cx:spPr>
              <a:solidFill>
                <a:srgbClr val="E00120"/>
              </a:solidFill>
            </cx:spPr>
          </cx:dataPt>
          <cx:dataPt idx="12">
            <cx:spPr>
              <a:solidFill>
                <a:srgbClr val="99001E"/>
              </a:solidFill>
            </cx:spPr>
          </cx:dataPt>
          <cx:dataLabels pos="ctr">
            <cx:visibility seriesName="0" categoryName="0" value="1"/>
            <cx:dataLabel idx="3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0</a:t>
                  </a:r>
                </a:p>
              </cx:txPr>
              <cx:visibility seriesName="0" categoryName="0" value="1"/>
            </cx:dataLabel>
            <cx:dataLabel idx="6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62</a:t>
                  </a:r>
                </a:p>
              </cx:txPr>
              <cx:visibility seriesName="0" categoryName="0" value="1"/>
            </cx:dataLabel>
            <cx:dataLabel idx="7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62</a:t>
                  </a:r>
                </a:p>
              </cx:txPr>
              <cx:visibility seriesName="0" categoryName="0" value="1"/>
            </cx:dataLabel>
            <cx:dataLabel idx="11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-85</a:t>
                  </a:r>
                </a:p>
              </cx:txPr>
              <cx:visibility seriesName="0" categoryName="0" value="1"/>
            </cx:dataLabel>
          </cx:dataLabels>
          <cx:dataId val="0"/>
          <cx:layoutPr>
            <cx:subtotals>
              <cx:idx val="2"/>
              <cx:idx val="5"/>
              <cx:idx val="8"/>
              <cx:idx val="10"/>
              <cx:idx val="12"/>
            </cx:subtotals>
          </cx:layoutPr>
        </cx:series>
      </cx:plotAreaRegion>
      <cx:axis id="0">
        <cx:catScaling gapWidth="0.5"/>
        <cx:tickLabels/>
        <cx:spPr>
          <a:ln w="15875"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700" b="1">
                <a:solidFill>
                  <a:schemeClr val="tx1"/>
                </a:solidFill>
              </a:defRPr>
            </a:pPr>
            <a:endParaRPr lang="en-US" sz="7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majorGridlines>
          <cx:spPr>
            <a:ln>
              <a:noFill/>
            </a:ln>
          </cx:spPr>
        </cx:majorGridlines>
        <cx:tickLabels/>
      </cx:axis>
    </cx:plotArea>
  </cx:chart>
</cx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68a5fe0f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3868a5fe0ff_0_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3868a5fe0ff_0_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68a5fe0ff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868a5fe0ff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g3868a5fe0ff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07648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07648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5" name="Google Shape;185;g3cbdc07648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c07648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c07648f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cbdc07648f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68a5fe0ff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868a5fe0ff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g3868a5fe0ff_0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12152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5.xml"/><Relationship Id="rId3" Type="http://schemas.openxmlformats.org/officeDocument/2006/relationships/chart" Target="../charts/chart1.xml"/><Relationship Id="rId7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image" Target="../media/image2.png"/><Relationship Id="rId9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14/relationships/chartEx" Target="../charts/chartEx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microsoft.com/office/2014/relationships/chartEx" Target="../charts/chartEx3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Relationship Id="rId6-created" Type="http://schemas.microsoft.com/office/2014/relationships/chartEx" Target="../charts/chartEx8.xml"/><Relationship Id="rId7-created" Type="http://schemas.openxmlformats.org/officeDocument/2006/relationships/image" Target="../media/media8.png"/><Relationship Id="rId8-created" Type="http://schemas.openxmlformats.org/officeDocument/2006/relationships/image" Target="../media/media9.png"/></Relationships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CF4A48-A038-160A-D67A-8CD453BA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8;g3868a5fe0ff_0_109">
            <a:extLst>
              <a:ext uri="{FF2B5EF4-FFF2-40B4-BE49-F238E27FC236}">
                <a16:creationId xmlns:a16="http://schemas.microsoft.com/office/drawing/2014/main" id="{BD13BF23-9F19-C45E-7C22-8F89855580C2}"/>
              </a:ext>
            </a:extLst>
          </p:cNvPr>
          <p:cNvPicPr preferRelativeResize="0"/>
          <p:nvPr/>
        </p:nvPicPr>
        <p:blipFill rotWithShape="1">
          <a:blip r:embed="rId7-created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03;g3868a5fe0ff_0_109">
            <a:extLst>
              <a:ext uri="{FF2B5EF4-FFF2-40B4-BE49-F238E27FC236}">
                <a16:creationId xmlns:a16="http://schemas.microsoft.com/office/drawing/2014/main" id="{9E0774BF-BC3A-3457-634E-A93D8FDAFF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3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45702385"/>
                  </p:ext>
                </p:extLst>
              </p:nvPr>
            </p:nvGraphicFramePr>
            <p:xfrm>
              <a:off x="1151068" y="1538343"/>
              <a:ext cx="10133704" cy="395881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-created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-created"/>
              <a:stretch>
                <a:fillRect/>
              </a:stretch>
            </p:blipFill>
            <p:spPr>
              <a:xfrm>
                <a:off x="1151068" y="1538343"/>
                <a:ext cx="10133704" cy="3958814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181;g3cbdc07648f_0_0">
            <a:extLst>
              <a:ext uri="{FF2B5EF4-FFF2-40B4-BE49-F238E27FC236}">
                <a16:creationId xmlns:a16="http://schemas.microsoft.com/office/drawing/2014/main" id="{DCDD4132-32A3-DB45-9716-25E3719B9CDD}"/>
              </a:ext>
            </a:extLst>
          </p:cNvPr>
          <p:cNvSpPr/>
          <p:nvPr/>
        </p:nvSpPr>
        <p:spPr>
          <a:xfrm>
            <a:off x="659583" y="1538343"/>
            <a:ext cx="10811817" cy="267827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FY 2025 EARNINGS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- BELOW THE EBITDA LINE ITEMS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99;g3868a5fe0ff_0_109">
            <a:extLst>
              <a:ext uri="{FF2B5EF4-FFF2-40B4-BE49-F238E27FC236}">
                <a16:creationId xmlns:a16="http://schemas.microsoft.com/office/drawing/2014/main" id="{30D9C5C5-250E-6BDE-6FC6-63E47CF71A3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Quarterly Business Review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" name="Google Shape;100;g3868a5fe0ff_0_109">
            <a:extLst>
              <a:ext uri="{FF2B5EF4-FFF2-40B4-BE49-F238E27FC236}">
                <a16:creationId xmlns:a16="http://schemas.microsoft.com/office/drawing/2014/main" id="{65F68FFD-903C-C845-1FF5-72E942B326E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Q1 2026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72249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259</Words>
  <Application>Microsoft Macintosh PowerPoint</Application>
  <PresentationFormat>Widescreen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Helvetica Neue</vt:lpstr>
      <vt:lpstr>Arial</vt:lpstr>
      <vt:lpstr>Office Theme 2013 - 2022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Tagscherer Ármin</dc:creator>
  <cp:lastModifiedBy>Örs Csák</cp:lastModifiedBy>
  <cp:revision>31</cp:revision>
  <dcterms:created xsi:type="dcterms:W3CDTF">2024-06-17T17:09:36Z</dcterms:created>
  <dcterms:modified xsi:type="dcterms:W3CDTF">2026-03-01T18:57:37Z</dcterms:modified>
</cp:coreProperties>
</file>