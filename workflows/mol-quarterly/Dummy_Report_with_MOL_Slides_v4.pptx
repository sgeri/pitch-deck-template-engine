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5.xml" ContentType="application/vnd.openxmlformats-officedocument.presentationml.notesSlide+xml"/>
  <Override PartName="/ppt/charts/chartEx2.xml" ContentType="application/vnd.ms-office.chartex+xml"/>
  <Override PartName="/ppt/charts/style7.xml" ContentType="application/vnd.ms-office.chartstyle+xml"/>
  <Override PartName="/ppt/charts/colors7.xml" ContentType="application/vnd.ms-office.chartcolorstyle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Ex3.xml" ContentType="application/vnd.ms-office.chartex+xml"/>
  <Override PartName="/ppt/charts/style8.xml" ContentType="application/vnd.ms-office.chartstyle+xml"/>
  <Override PartName="/ppt/charts/colors8.xml" ContentType="application/vnd.ms-office.chartcolorstyl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5" r:id="rId4"/>
    <p:sldId id="261" r:id="rId5"/>
    <p:sldId id="262" r:id="rId6"/>
    <p:sldId id="264" r:id="rId7"/>
    <p:sldId id="259" r:id="rId8"/>
  </p:sldIdLst>
  <p:sldSz cx="12192000" cy="6858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Helvetica Neue" panose="02000503000000020004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hZSYr+vVZ+KJ4E1GAgIhBUKXCz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E00120"/>
    <a:srgbClr val="99001E"/>
    <a:srgbClr val="6E6E6E"/>
    <a:srgbClr val="E001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05"/>
    <p:restoredTop sz="90361"/>
  </p:normalViewPr>
  <p:slideViewPr>
    <p:cSldViewPr snapToGrid="0">
      <p:cViewPr>
        <p:scale>
          <a:sx n="119" d="100"/>
          <a:sy n="119" d="100"/>
        </p:scale>
        <p:origin x="904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orscsak/Downloads/MOL_Group_Q1-Q3_2025_Charts_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orscsak/Downloads/MOL_Group_Q1-Q3_2025_Charts_Dat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orscsak/Downloads/MOL_Group_Q1-Q3_2025_Charts_Dat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orscsak/Downloads/MOL_Group_Q1-Q3_2025_Charts_Data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orscsak/Downloads/MOL_Group_Q1-Q3_2025_Charts_Data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file:////Users/orscsak/Downloads/MOL_Group_Q1-Q3_2025_Charts_Data.xlsx" TargetMode="External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1022009758305576E-2"/>
          <c:y val="0.25918078834001845"/>
          <c:w val="0.95795598048338881"/>
          <c:h val="0.4218301837085301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 w="1587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282-CF46-8ED7-62AD0FCCDF53}"/>
              </c:ext>
            </c:extLst>
          </c:dPt>
          <c:dPt>
            <c:idx val="1"/>
            <c:invertIfNegative val="0"/>
            <c:bubble3D val="0"/>
            <c:spPr>
              <a:solidFill>
                <a:srgbClr val="E0011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282-CF46-8ED7-62AD0FCCDF53}"/>
              </c:ext>
            </c:extLst>
          </c:dPt>
          <c:dPt>
            <c:idx val="2"/>
            <c:invertIfNegative val="0"/>
            <c:bubble3D val="0"/>
            <c:spPr>
              <a:solidFill>
                <a:srgbClr val="99001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282-CF46-8ED7-62AD0FCCDF53}"/>
              </c:ext>
            </c:extLst>
          </c:dPt>
          <c:dLbls>
            <c:dLbl>
              <c:idx val="0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3.2503608502462443E-2"/>
                      <c:h val="0.2003688270631495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282-CF46-8ED7-62AD0FCCDF53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7282-CF46-8ED7-62AD0FCCDF53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282-CF46-8ED7-62AD0FCCDF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H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'Net Financials'!$A$5:$A$7</c:f>
              <c:strCache>
                <c:ptCount val="3"/>
                <c:pt idx="0">
                  <c:v>Q3 2024</c:v>
                </c:pt>
                <c:pt idx="1">
                  <c:v>Q2 2025</c:v>
                </c:pt>
                <c:pt idx="2">
                  <c:v>Q3 2025</c:v>
                </c:pt>
              </c:strCache>
            </c:strRef>
          </c:cat>
          <c:val>
            <c:numRef>
              <c:f>'Net Financials'!$B$5:$B$7</c:f>
              <c:numCache>
                <c:formatCode>General</c:formatCode>
                <c:ptCount val="3"/>
                <c:pt idx="0">
                  <c:v>-18</c:v>
                </c:pt>
                <c:pt idx="1">
                  <c:v>-74</c:v>
                </c:pt>
                <c:pt idx="2">
                  <c:v>-90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82-CF46-8ED7-62AD0FCCDF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6"/>
        <c:overlap val="100"/>
        <c:axId val="1272050816"/>
        <c:axId val="1272052608"/>
      </c:barChart>
      <c:catAx>
        <c:axId val="1272050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58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t" anchorCtr="0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HU"/>
          </a:p>
        </c:txPr>
        <c:crossAx val="1272052608"/>
        <c:crosses val="autoZero"/>
        <c:auto val="1"/>
        <c:lblAlgn val="ctr"/>
        <c:lblOffset val="100"/>
        <c:noMultiLvlLbl val="0"/>
      </c:catAx>
      <c:valAx>
        <c:axId val="12720526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72050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H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1022009758305576E-2"/>
          <c:y val="0.25918078834001845"/>
          <c:w val="0.95795598048338881"/>
          <c:h val="0.4218301837085301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 w="1587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282-CF46-8ED7-62AD0FCCDF53}"/>
              </c:ext>
            </c:extLst>
          </c:dPt>
          <c:dPt>
            <c:idx val="1"/>
            <c:invertIfNegative val="0"/>
            <c:bubble3D val="0"/>
            <c:spPr>
              <a:solidFill>
                <a:srgbClr val="E0011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282-CF46-8ED7-62AD0FCCDF53}"/>
              </c:ext>
            </c:extLst>
          </c:dPt>
          <c:dPt>
            <c:idx val="2"/>
            <c:invertIfNegative val="0"/>
            <c:bubble3D val="0"/>
            <c:spPr>
              <a:solidFill>
                <a:srgbClr val="99001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282-CF46-8ED7-62AD0FCCDF53}"/>
              </c:ext>
            </c:extLst>
          </c:dPt>
          <c:dLbls>
            <c:dLbl>
              <c:idx val="0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3.7920876586206194E-2"/>
                      <c:h val="0.2003688270631495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282-CF46-8ED7-62AD0FCCDF53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7282-CF46-8ED7-62AD0FCCDF53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282-CF46-8ED7-62AD0FCCDF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H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'Net Financials'!$A$11:$A$13</c:f>
              <c:strCache>
                <c:ptCount val="3"/>
                <c:pt idx="0">
                  <c:v>Q3 2024</c:v>
                </c:pt>
                <c:pt idx="1">
                  <c:v>Q2 2025</c:v>
                </c:pt>
                <c:pt idx="2">
                  <c:v>Q3 2025</c:v>
                </c:pt>
              </c:strCache>
            </c:strRef>
          </c:cat>
          <c:val>
            <c:numRef>
              <c:f>'Net Financials'!$B$11:$B$13</c:f>
              <c:numCache>
                <c:formatCode>General</c:formatCode>
                <c:ptCount val="3"/>
                <c:pt idx="0">
                  <c:v>341</c:v>
                </c:pt>
                <c:pt idx="1">
                  <c:v>413</c:v>
                </c:pt>
                <c:pt idx="2">
                  <c:v>404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82-CF46-8ED7-62AD0FCCDF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6"/>
        <c:overlap val="100"/>
        <c:axId val="1272050816"/>
        <c:axId val="1272052608"/>
      </c:barChart>
      <c:catAx>
        <c:axId val="1272050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58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t" anchorCtr="0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HU"/>
          </a:p>
        </c:txPr>
        <c:crossAx val="1272052608"/>
        <c:crosses val="autoZero"/>
        <c:auto val="1"/>
        <c:lblAlgn val="ctr"/>
        <c:lblOffset val="100"/>
        <c:noMultiLvlLbl val="0"/>
      </c:catAx>
      <c:valAx>
        <c:axId val="12720526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72050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H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1022009758305576E-2"/>
          <c:y val="0.25918078834001845"/>
          <c:w val="0.95795598048338881"/>
          <c:h val="0.4218301837085301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 w="1587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282-CF46-8ED7-62AD0FCCDF53}"/>
              </c:ext>
            </c:extLst>
          </c:dPt>
          <c:dPt>
            <c:idx val="1"/>
            <c:invertIfNegative val="0"/>
            <c:bubble3D val="0"/>
            <c:spPr>
              <a:solidFill>
                <a:srgbClr val="E0011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282-CF46-8ED7-62AD0FCCDF53}"/>
              </c:ext>
            </c:extLst>
          </c:dPt>
          <c:dPt>
            <c:idx val="2"/>
            <c:invertIfNegative val="0"/>
            <c:bubble3D val="0"/>
            <c:spPr>
              <a:solidFill>
                <a:srgbClr val="99001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282-CF46-8ED7-62AD0FCCDF53}"/>
              </c:ext>
            </c:extLst>
          </c:dPt>
          <c:dLbls>
            <c:dLbl>
              <c:idx val="0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3.7920876586206194E-2"/>
                      <c:h val="0.2003688270631495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282-CF46-8ED7-62AD0FCCDF53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7282-CF46-8ED7-62AD0FCCDF53}"/>
                </c:ext>
              </c:extLst>
            </c:dLbl>
            <c:dLbl>
              <c:idx val="2"/>
              <c:spPr>
                <a:solidFill>
                  <a:srgbClr val="99001E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282-CF46-8ED7-62AD0FCCDF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H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'Net Financials'!$A$17:$A$19</c:f>
              <c:strCache>
                <c:ptCount val="3"/>
                <c:pt idx="0">
                  <c:v>Q3 2024</c:v>
                </c:pt>
                <c:pt idx="1">
                  <c:v>Q2 2025</c:v>
                </c:pt>
                <c:pt idx="2">
                  <c:v>Q3 2025</c:v>
                </c:pt>
              </c:strCache>
            </c:strRef>
          </c:cat>
          <c:val>
            <c:numRef>
              <c:f>'Net Financials'!$B$17:$B$19</c:f>
              <c:numCache>
                <c:formatCode>General</c:formatCode>
                <c:ptCount val="3"/>
                <c:pt idx="0">
                  <c:v>0</c:v>
                </c:pt>
                <c:pt idx="1">
                  <c:v>-33</c:v>
                </c:pt>
                <c:pt idx="2">
                  <c:v>-6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82-CF46-8ED7-62AD0FCCDF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6"/>
        <c:overlap val="100"/>
        <c:axId val="1272050816"/>
        <c:axId val="1272052608"/>
      </c:barChart>
      <c:catAx>
        <c:axId val="1272050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58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t" anchorCtr="0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HU"/>
          </a:p>
        </c:txPr>
        <c:crossAx val="1272052608"/>
        <c:crosses val="autoZero"/>
        <c:auto val="1"/>
        <c:lblAlgn val="ctr"/>
        <c:lblOffset val="100"/>
        <c:noMultiLvlLbl val="0"/>
      </c:catAx>
      <c:valAx>
        <c:axId val="12720526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72050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H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1022009758305576E-2"/>
          <c:y val="0.25918078834001845"/>
          <c:w val="0.95795598048338881"/>
          <c:h val="0.4218301837085301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 w="1587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282-CF46-8ED7-62AD0FCCDF53}"/>
              </c:ext>
            </c:extLst>
          </c:dPt>
          <c:dPt>
            <c:idx val="1"/>
            <c:invertIfNegative val="0"/>
            <c:bubble3D val="0"/>
            <c:spPr>
              <a:solidFill>
                <a:srgbClr val="E0011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282-CF46-8ED7-62AD0FCCDF53}"/>
              </c:ext>
            </c:extLst>
          </c:dPt>
          <c:dPt>
            <c:idx val="2"/>
            <c:invertIfNegative val="0"/>
            <c:bubble3D val="0"/>
            <c:spPr>
              <a:solidFill>
                <a:srgbClr val="99001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282-CF46-8ED7-62AD0FCCDF53}"/>
              </c:ext>
            </c:extLst>
          </c:dPt>
          <c:dLbls>
            <c:dLbl>
              <c:idx val="0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3.7920876586206194E-2"/>
                      <c:h val="0.2003688270631495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282-CF46-8ED7-62AD0FCCDF53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7282-CF46-8ED7-62AD0FCCDF53}"/>
                </c:ext>
              </c:extLst>
            </c:dLbl>
            <c:dLbl>
              <c:idx val="2"/>
              <c:spPr>
                <a:solidFill>
                  <a:srgbClr val="99001E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282-CF46-8ED7-62AD0FCCDF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H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'Net Financials'!$A$23:$A$25</c:f>
              <c:strCache>
                <c:ptCount val="3"/>
                <c:pt idx="0">
                  <c:v>Q3 2024</c:v>
                </c:pt>
                <c:pt idx="1">
                  <c:v>Q2 2025</c:v>
                </c:pt>
                <c:pt idx="2">
                  <c:v>Q3 2025</c:v>
                </c:pt>
              </c:strCache>
            </c:strRef>
          </c:cat>
          <c:val>
            <c:numRef>
              <c:f>'Net Financials'!$B$23:$B$25</c:f>
              <c:numCache>
                <c:formatCode>General</c:formatCode>
                <c:ptCount val="3"/>
                <c:pt idx="0">
                  <c:v>15</c:v>
                </c:pt>
                <c:pt idx="1">
                  <c:v>5</c:v>
                </c:pt>
                <c:pt idx="2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82-CF46-8ED7-62AD0FCCDF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6"/>
        <c:overlap val="100"/>
        <c:axId val="1272050816"/>
        <c:axId val="1272052608"/>
      </c:barChart>
      <c:catAx>
        <c:axId val="1272050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58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t" anchorCtr="0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HU"/>
          </a:p>
        </c:txPr>
        <c:crossAx val="1272052608"/>
        <c:crosses val="autoZero"/>
        <c:auto val="1"/>
        <c:lblAlgn val="ctr"/>
        <c:lblOffset val="100"/>
        <c:noMultiLvlLbl val="0"/>
      </c:catAx>
      <c:valAx>
        <c:axId val="12720526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72050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H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1022009758305576E-2"/>
          <c:y val="0.25918078834001845"/>
          <c:w val="0.95795598048338881"/>
          <c:h val="0.4218301837085301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 w="1587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282-CF46-8ED7-62AD0FCCDF53}"/>
              </c:ext>
            </c:extLst>
          </c:dPt>
          <c:dPt>
            <c:idx val="1"/>
            <c:invertIfNegative val="0"/>
            <c:bubble3D val="0"/>
            <c:spPr>
              <a:solidFill>
                <a:srgbClr val="E0011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282-CF46-8ED7-62AD0FCCDF53}"/>
              </c:ext>
            </c:extLst>
          </c:dPt>
          <c:dPt>
            <c:idx val="2"/>
            <c:invertIfNegative val="0"/>
            <c:bubble3D val="0"/>
            <c:spPr>
              <a:solidFill>
                <a:srgbClr val="99001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282-CF46-8ED7-62AD0FCCDF53}"/>
              </c:ext>
            </c:extLst>
          </c:dPt>
          <c:dLbls>
            <c:dLbl>
              <c:idx val="0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3.7920876586206194E-2"/>
                      <c:h val="0.2003688270631495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282-CF46-8ED7-62AD0FCCDF53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7282-CF46-8ED7-62AD0FCCDF53}"/>
                </c:ext>
              </c:extLst>
            </c:dLbl>
            <c:dLbl>
              <c:idx val="2"/>
              <c:spPr>
                <a:solidFill>
                  <a:srgbClr val="99001E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H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282-CF46-8ED7-62AD0FCCDF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H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'Net Financials'!$A$29:$A$31</c:f>
              <c:strCache>
                <c:ptCount val="3"/>
                <c:pt idx="0">
                  <c:v>Q3 2024</c:v>
                </c:pt>
                <c:pt idx="1">
                  <c:v>Q2 2025</c:v>
                </c:pt>
                <c:pt idx="2">
                  <c:v>Q3 2025</c:v>
                </c:pt>
              </c:strCache>
            </c:strRef>
          </c:cat>
          <c:val>
            <c:numRef>
              <c:f>'Net Financials'!$B$29:$B$31</c:f>
              <c:numCache>
                <c:formatCode>General</c:formatCode>
                <c:ptCount val="3"/>
                <c:pt idx="0">
                  <c:v>120</c:v>
                </c:pt>
                <c:pt idx="1">
                  <c:v>127</c:v>
                </c:pt>
                <c:pt idx="2">
                  <c:v>164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82-CF46-8ED7-62AD0FCCDF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6"/>
        <c:overlap val="100"/>
        <c:axId val="1272050816"/>
        <c:axId val="1272052608"/>
      </c:barChart>
      <c:catAx>
        <c:axId val="1272050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58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t" anchorCtr="0"/>
          <a:lstStyle/>
          <a:p>
            <a:pPr>
              <a:defRPr sz="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HU"/>
          </a:p>
        </c:txPr>
        <c:crossAx val="1272052608"/>
        <c:crosses val="autoZero"/>
        <c:auto val="1"/>
        <c:lblAlgn val="ctr"/>
        <c:lblOffset val="100"/>
        <c:noMultiLvlLbl val="0"/>
      </c:catAx>
      <c:valAx>
        <c:axId val="12720526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720508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H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tIns="0" bIns="0"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H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Q1 2025</c:v>
                </c:pt>
                <c:pt idx="12">
                  <c:v>Q2 2025</c:v>
                </c:pt>
                <c:pt idx="13">
                  <c:v>Q3 2025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1.31</c:v>
                </c:pt>
                <c:pt idx="1">
                  <c:v>0.74</c:v>
                </c:pt>
                <c:pt idx="2">
                  <c:v>0.97</c:v>
                </c:pt>
                <c:pt idx="3">
                  <c:v>0.65</c:v>
                </c:pt>
                <c:pt idx="4">
                  <c:v>0.41</c:v>
                </c:pt>
                <c:pt idx="5">
                  <c:v>0.82</c:v>
                </c:pt>
                <c:pt idx="6">
                  <c:v>1.61</c:v>
                </c:pt>
                <c:pt idx="7">
                  <c:v>0.65</c:v>
                </c:pt>
                <c:pt idx="8">
                  <c:v>0.3</c:v>
                </c:pt>
                <c:pt idx="9">
                  <c:v>0.59</c:v>
                </c:pt>
                <c:pt idx="10">
                  <c:v>0.74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B7-A44E-A45A-7EBD2DC25D4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B1323"/>
            </a:solidFill>
            <a:effectLst/>
          </c:spPr>
          <c:invertIfNegative val="0"/>
          <c:dPt>
            <c:idx val="11"/>
            <c:invertIfNegative val="0"/>
            <c:bubble3D val="0"/>
            <c:spPr>
              <a:solidFill>
                <a:srgbClr val="C810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3EB7-A44E-A45A-7EBD2DC25D44}"/>
              </c:ext>
            </c:extLst>
          </c:dPt>
          <c:dPt>
            <c:idx val="12"/>
            <c:invertIfNegative val="0"/>
            <c:bubble3D val="0"/>
            <c:spPr>
              <a:solidFill>
                <a:srgbClr val="C810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3EB7-A44E-A45A-7EBD2DC25D44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55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H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Q1 2025</c:v>
                </c:pt>
                <c:pt idx="12">
                  <c:v>Q2 2025</c:v>
                </c:pt>
                <c:pt idx="13">
                  <c:v>Q3 2025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11">
                  <c:v>0.64</c:v>
                </c:pt>
                <c:pt idx="12">
                  <c:v>0.69</c:v>
                </c:pt>
                <c:pt idx="13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B7-A44E-A45A-7EBD2DC25D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1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chemeClr val="tx1"/>
            </a:solidFill>
            <a:prstDash val="solid"/>
            <a:round/>
          </a:ln>
        </c:spPr>
        <c:txPr>
          <a:bodyPr/>
          <a:lstStyle/>
          <a:p>
            <a:pPr>
              <a:defRPr sz="500" b="0" i="0" u="none" strike="noStrike">
                <a:solidFill>
                  <a:schemeClr val="tx1"/>
                </a:solidFill>
                <a:latin typeface="Arial"/>
              </a:defRPr>
            </a:pPr>
            <a:endParaRPr lang="en-H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l"/>
        <c:numFmt formatCode="#,##0.0" sourceLinked="0"/>
        <c:majorTickMark val="out"/>
        <c:minorTickMark val="none"/>
        <c:tickLblPos val="nextTo"/>
        <c:spPr>
          <a:ln w="12700" cap="flat">
            <a:solidFill>
              <a:schemeClr val="tx1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tx1"/>
                </a:solidFill>
                <a:latin typeface="Arial"/>
              </a:defRPr>
            </a:pPr>
            <a:endParaRPr lang="en-H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>
          <a:alpha val="0"/>
        </a:schemeClr>
      </a:solidFill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5.6574317099251474E-2"/>
          <c:y val="6.4287678767876777E-2"/>
          <c:w val="0.90947506561679792"/>
          <c:h val="0.761310235354244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en-H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Q1 2025</c:v>
                </c:pt>
                <c:pt idx="12">
                  <c:v>Q2 2025</c:v>
                </c:pt>
                <c:pt idx="13">
                  <c:v>Q3 2025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19.600000000000001</c:v>
                </c:pt>
                <c:pt idx="1">
                  <c:v>20.6</c:v>
                </c:pt>
                <c:pt idx="2">
                  <c:v>25.2</c:v>
                </c:pt>
                <c:pt idx="3">
                  <c:v>17.5</c:v>
                </c:pt>
                <c:pt idx="4">
                  <c:v>12</c:v>
                </c:pt>
                <c:pt idx="5">
                  <c:v>18.600000000000001</c:v>
                </c:pt>
                <c:pt idx="6">
                  <c:v>27.3</c:v>
                </c:pt>
                <c:pt idx="7">
                  <c:v>18.100000000000001</c:v>
                </c:pt>
                <c:pt idx="8">
                  <c:v>11.4</c:v>
                </c:pt>
                <c:pt idx="9">
                  <c:v>14</c:v>
                </c:pt>
                <c:pt idx="10">
                  <c:v>14.9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1F-054D-BB59-7A8A7C19C61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7B1323"/>
            </a:solidFill>
            <a:effectLst/>
          </c:spPr>
          <c:invertIfNegative val="0"/>
          <c:dPt>
            <c:idx val="11"/>
            <c:invertIfNegative val="0"/>
            <c:bubble3D val="0"/>
            <c:spPr>
              <a:solidFill>
                <a:srgbClr val="C310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81F-054D-BB59-7A8A7C19C61E}"/>
              </c:ext>
            </c:extLst>
          </c:dPt>
          <c:dPt>
            <c:idx val="12"/>
            <c:invertIfNegative val="0"/>
            <c:bubble3D val="0"/>
            <c:spPr>
              <a:solidFill>
                <a:srgbClr val="C310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B81F-054D-BB59-7A8A7C19C61E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55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H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  <c:pt idx="11">
                  <c:v>Q1 2025</c:v>
                </c:pt>
                <c:pt idx="12">
                  <c:v>Q2 2025</c:v>
                </c:pt>
                <c:pt idx="13">
                  <c:v>Q3 2025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11">
                  <c:v>13.4</c:v>
                </c:pt>
                <c:pt idx="12">
                  <c:v>13.9</c:v>
                </c:pt>
                <c:pt idx="13">
                  <c:v>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1F-054D-BB59-7A8A7C19C61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9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chemeClr val="tx1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rial"/>
              </a:defRPr>
            </a:pPr>
            <a:endParaRPr lang="en-H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chemeClr val="tx1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tx1"/>
                </a:solidFill>
                <a:latin typeface="Arial"/>
              </a:defRPr>
            </a:pPr>
            <a:endParaRPr lang="en-H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Sheet1!$A$2:$A$14</cx:f>
        <cx:lvl ptCount="13">
          <cx:pt idx="0">Clean CCS
EBITDA</cx:pt>
          <cx:pt idx="1">CCS
modifications</cx:pt>
          <cx:pt idx="2">EBITDA excl.
special items</cx:pt>
          <cx:pt idx="3">Special items
(EBITDA)</cx:pt>
          <cx:pt idx="4">DD&amp;A and
impairments</cx:pt>
          <cx:pt idx="5">Profit from
operation</cx:pt>
          <cx:pt idx="6">Total finance
expense/gain,
net</cx:pt>
          <cx:pt idx="7">Income from
associates</cx:pt>
          <cx:pt idx="8">Profit
before tax</cx:pt>
          <cx:pt idx="9">Income tax
expense</cx:pt>
          <cx:pt idx="10">Profit for
the period</cx:pt>
          <cx:pt idx="11">Non-controlling
interests</cx:pt>
          <cx:pt idx="12">Profit for the
period to
equity holders
of the parent</cx:pt>
        </cx:lvl>
      </cx:strDim>
      <cx:numDim type="val">
        <cx:f>Sheet1!$B$2:$B$14</cx:f>
        <cx:lvl ptCount="13" formatCode="General">
          <cx:pt idx="0">2491</cx:pt>
          <cx:pt idx="1">-176</cx:pt>
          <cx:pt idx="2">2315</cx:pt>
          <cx:pt idx="3">0</cx:pt>
          <cx:pt idx="4">-1154</cx:pt>
          <cx:pt idx="5">1161</cx:pt>
          <cx:pt idx="6">62</cx:pt>
          <cx:pt idx="7">62</cx:pt>
          <cx:pt idx="8">1285</cx:pt>
          <cx:pt idx="9">-425</cx:pt>
          <cx:pt idx="10">860</cx:pt>
          <cx:pt idx="11">-85</cx:pt>
          <cx:pt idx="12">775</cx:pt>
        </cx:lvl>
      </cx:numDim>
    </cx:data>
  </cx:chartData>
  <cx:chart>
    <cx:plotArea>
      <cx:plotAreaRegion>
        <cx:series layoutId="waterfall" uniqueId="{DEC26F3D-04BC-AD43-AC8A-C611B5377186}">
          <cx:tx>
            <cx:txData>
              <cx:f>Sheet1!$B$1</cx:f>
              <cx:v>Value</cx:v>
            </cx:txData>
          </cx:tx>
          <cx:spPr>
            <a:ln w="12700">
              <a:solidFill>
                <a:srgbClr val="000000">
                  <a:alpha val="0"/>
                </a:srgbClr>
              </a:solidFill>
              <a:prstDash val="dash"/>
            </a:ln>
          </cx:spPr>
          <cx:dataPt idx="0">
            <cx:spPr>
              <a:solidFill>
                <a:srgbClr val="6E6E6E"/>
              </a:solidFill>
            </cx:spPr>
          </cx:dataPt>
          <cx:dataPt idx="1">
            <cx:spPr>
              <a:solidFill>
                <a:srgbClr val="E00120"/>
              </a:solidFill>
            </cx:spPr>
          </cx:dataPt>
          <cx:dataPt idx="2">
            <cx:spPr>
              <a:solidFill>
                <a:srgbClr val="99001E"/>
              </a:solidFill>
            </cx:spPr>
          </cx:dataPt>
          <cx:dataPt idx="3">
            <cx:spPr>
              <a:solidFill>
                <a:srgbClr val="E00120"/>
              </a:solidFill>
            </cx:spPr>
          </cx:dataPt>
          <cx:dataPt idx="4">
            <cx:spPr>
              <a:solidFill>
                <a:srgbClr val="E00120"/>
              </a:solidFill>
            </cx:spPr>
          </cx:dataPt>
          <cx:dataPt idx="5">
            <cx:spPr>
              <a:solidFill>
                <a:srgbClr val="99001E"/>
              </a:solidFill>
            </cx:spPr>
          </cx:dataPt>
          <cx:dataPt idx="6">
            <cx:spPr>
              <a:solidFill>
                <a:srgbClr val="E00120"/>
              </a:solidFill>
            </cx:spPr>
          </cx:dataPt>
          <cx:dataPt idx="7">
            <cx:spPr>
              <a:solidFill>
                <a:srgbClr val="E00120"/>
              </a:solidFill>
            </cx:spPr>
          </cx:dataPt>
          <cx:dataPt idx="8">
            <cx:spPr>
              <a:solidFill>
                <a:srgbClr val="99001E"/>
              </a:solidFill>
            </cx:spPr>
          </cx:dataPt>
          <cx:dataPt idx="9">
            <cx:spPr>
              <a:solidFill>
                <a:srgbClr val="E00120"/>
              </a:solidFill>
            </cx:spPr>
          </cx:dataPt>
          <cx:dataPt idx="10">
            <cx:spPr>
              <a:solidFill>
                <a:srgbClr val="99001E"/>
              </a:solidFill>
            </cx:spPr>
          </cx:dataPt>
          <cx:dataPt idx="11">
            <cx:spPr>
              <a:solidFill>
                <a:srgbClr val="E00120"/>
              </a:solidFill>
            </cx:spPr>
          </cx:dataPt>
          <cx:dataPt idx="12">
            <cx:spPr>
              <a:solidFill>
                <a:srgbClr val="99001E"/>
              </a:solidFill>
            </cx:spPr>
          </cx:dataPt>
          <cx:dataLabels pos="ctr">
            <cx:visibility seriesName="0" categoryName="0" value="1"/>
            <cx:dataLabel idx="3">
              <cx:spPr>
                <a:solidFill>
                  <a:srgbClr val="E00120"/>
                </a:solidFill>
              </cx:spPr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/>
                      </a:solidFill>
                    </a:defRPr>
                  </a:pPr>
                  <a:r>
                    <a:rPr lang="en-US" sz="1197" b="0" i="0" u="none" strike="noStrike" baseline="0">
                      <a:solidFill>
                        <a:schemeClr val="bg1"/>
                      </a:solidFill>
                      <a:latin typeface="Arial"/>
                    </a:rPr>
                    <a:t>0</a:t>
                  </a:r>
                </a:p>
              </cx:txPr>
              <cx:visibility seriesName="0" categoryName="0" value="1"/>
            </cx:dataLabel>
            <cx:dataLabel idx="6">
              <cx:spPr>
                <a:solidFill>
                  <a:srgbClr val="E00120"/>
                </a:solidFill>
              </cx:spPr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/>
                      </a:solidFill>
                    </a:defRPr>
                  </a:pPr>
                  <a:r>
                    <a:rPr lang="en-US" sz="1197" b="0" i="0" u="none" strike="noStrike" baseline="0">
                      <a:solidFill>
                        <a:schemeClr val="bg1"/>
                      </a:solidFill>
                      <a:latin typeface="Arial"/>
                    </a:rPr>
                    <a:t>62</a:t>
                  </a:r>
                </a:p>
              </cx:txPr>
              <cx:visibility seriesName="0" categoryName="0" value="1"/>
            </cx:dataLabel>
            <cx:dataLabel idx="7">
              <cx:spPr>
                <a:solidFill>
                  <a:srgbClr val="E00120"/>
                </a:solidFill>
              </cx:spPr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/>
                      </a:solidFill>
                    </a:defRPr>
                  </a:pPr>
                  <a:r>
                    <a:rPr lang="en-US" sz="1197" b="0" i="0" u="none" strike="noStrike" baseline="0">
                      <a:solidFill>
                        <a:schemeClr val="bg1"/>
                      </a:solidFill>
                      <a:latin typeface="Arial"/>
                    </a:rPr>
                    <a:t>62</a:t>
                  </a:r>
                </a:p>
              </cx:txPr>
              <cx:visibility seriesName="0" categoryName="0" value="1"/>
            </cx:dataLabel>
            <cx:dataLabel idx="11">
              <cx:spPr>
                <a:solidFill>
                  <a:srgbClr val="E00120"/>
                </a:solidFill>
              </cx:spPr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/>
                      </a:solidFill>
                    </a:defRPr>
                  </a:pPr>
                  <a:r>
                    <a:rPr lang="en-US" sz="1197" b="0" i="0" u="none" strike="noStrike" baseline="0">
                      <a:solidFill>
                        <a:schemeClr val="bg1"/>
                      </a:solidFill>
                      <a:latin typeface="Arial"/>
                    </a:rPr>
                    <a:t>-85</a:t>
                  </a:r>
                </a:p>
              </cx:txPr>
              <cx:visibility seriesName="0" categoryName="0" value="1"/>
            </cx:dataLabel>
          </cx:dataLabels>
          <cx:dataId val="0"/>
          <cx:layoutPr>
            <cx:subtotals>
              <cx:idx val="2"/>
              <cx:idx val="5"/>
              <cx:idx val="8"/>
              <cx:idx val="10"/>
              <cx:idx val="12"/>
            </cx:subtotals>
          </cx:layoutPr>
        </cx:series>
      </cx:plotAreaRegion>
      <cx:axis id="0">
        <cx:catScaling gapWidth="0.5"/>
        <cx:tickLabels/>
        <cx:spPr>
          <a:ln w="15875">
            <a:solidFill>
              <a:schemeClr val="tx1"/>
            </a:solidFill>
          </a:ln>
        </cx:spPr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700" b="1">
                <a:solidFill>
                  <a:schemeClr val="tx1"/>
                </a:solidFill>
              </a:defRPr>
            </a:pPr>
            <a:endParaRPr lang="en-US" sz="700" b="1" i="0" u="none" strike="noStrike" baseline="0">
              <a:solidFill>
                <a:schemeClr val="tx1"/>
              </a:solidFill>
              <a:latin typeface="Arial"/>
            </a:endParaRPr>
          </a:p>
        </cx:txPr>
      </cx:axis>
      <cx:axis id="1" hidden="1">
        <cx:valScaling/>
        <cx:majorGridlines>
          <cx:spPr>
            <a:ln>
              <a:noFill/>
            </a:ln>
          </cx:spPr>
        </cx:majorGridlines>
        <cx:tickLabels/>
      </cx:axis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'Operating Cash Flow'!$A$5:$A$12</cx:f>
        <cx:lvl ptCount="8">
          <cx:pt idx="0">Profit before tax
Cont. Operation</cx:pt>
          <cx:pt idx="1">DD&amp;A</cx:pt>
          <cx:pt idx="2">Income tax paid</cx:pt>
          <cx:pt idx="3">Other</cx:pt>
          <cx:pt idx="4">Operating CF
before WC</cx:pt>
          <cx:pt idx="5">Change in WC</cx:pt>
          <cx:pt idx="6">Operating CF</cx:pt>
          <cx:pt idx="7">Organic CAPEX</cx:pt>
        </cx:lvl>
      </cx:strDim>
      <cx:numDim type="val">
        <cx:f>'Operating Cash Flow'!$B$5:$B$12</cx:f>
        <cx:lvl ptCount="8" formatCode="General">
          <cx:pt idx="0">1285</cx:pt>
          <cx:pt idx="1">1154</cx:pt>
          <cx:pt idx="2">-487</cx:pt>
          <cx:pt idx="3">-141</cx:pt>
          <cx:pt idx="4">1811</cx:pt>
          <cx:pt idx="5">366</cx:pt>
          <cx:pt idx="6">2177</cx:pt>
          <cx:pt idx="7">840</cx:pt>
        </cx:lvl>
      </cx:numDim>
    </cx:data>
  </cx:chartData>
  <cx:chart>
    <cx:plotArea>
      <cx:plotAreaRegion>
        <cx:series layoutId="waterfall" uniqueId="{77DE77FB-845C-F44D-913A-C659BDC6CEA7}">
          <cx:tx>
            <cx:txData>
              <cx:f>'Operating Cash Flow'!$B$4</cx:f>
              <cx:v>Value (USD mn)</cx:v>
            </cx:txData>
          </cx:tx>
          <cx:spPr>
            <a:ln w="12700">
              <a:solidFill>
                <a:srgbClr val="000000">
                  <a:alpha val="0"/>
                </a:srgbClr>
              </a:solidFill>
              <a:prstDash val="dash"/>
            </a:ln>
          </cx:spPr>
          <cx:dataPt idx="0">
            <cx:spPr>
              <a:solidFill>
                <a:srgbClr val="99001E"/>
              </a:solidFill>
            </cx:spPr>
          </cx:dataPt>
          <cx:dataPt idx="1">
            <cx:spPr>
              <a:solidFill>
                <a:srgbClr val="E00120"/>
              </a:solidFill>
            </cx:spPr>
          </cx:dataPt>
          <cx:dataPt idx="2">
            <cx:spPr>
              <a:solidFill>
                <a:srgbClr val="E00120"/>
              </a:solidFill>
            </cx:spPr>
          </cx:dataPt>
          <cx:dataPt idx="3">
            <cx:spPr>
              <a:solidFill>
                <a:srgbClr val="E00120"/>
              </a:solidFill>
            </cx:spPr>
          </cx:dataPt>
          <cx:dataPt idx="4">
            <cx:spPr>
              <a:solidFill>
                <a:srgbClr val="99001E"/>
              </a:solidFill>
            </cx:spPr>
          </cx:dataPt>
          <cx:dataPt idx="5">
            <cx:spPr>
              <a:solidFill>
                <a:srgbClr val="E00120"/>
              </a:solidFill>
            </cx:spPr>
          </cx:dataPt>
          <cx:dataPt idx="6">
            <cx:spPr>
              <a:solidFill>
                <a:srgbClr val="99001E"/>
              </a:solidFill>
            </cx:spPr>
          </cx:dataPt>
          <cx:dataPt idx="7">
            <cx:spPr>
              <a:solidFill>
                <a:srgbClr val="6E6E6E"/>
              </a:solidFill>
            </cx:spPr>
          </cx:dataPt>
          <cx:dataLabels>
            <cx:numFmt formatCode="# ##0;# ##0" sourceLinked="0"/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1000" b="1">
                    <a:solidFill>
                      <a:schemeClr val="tx1"/>
                    </a:solidFill>
                  </a:defRPr>
                </a:pPr>
                <a:endParaRPr lang="en-GB" sz="1000" b="1" i="0" u="none" strike="noStrike" baseline="0">
                  <a:solidFill>
                    <a:schemeClr val="tx1"/>
                  </a:solidFill>
                  <a:latin typeface="Arial"/>
                </a:endParaRPr>
              </a:p>
            </cx:txPr>
            <cx:dataLabel idx="1" pos="ctr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/>
                      </a:solidFill>
                    </a:defRPr>
                  </a:pPr>
                  <a:r>
                    <a:rPr lang="en-GB" sz="1000" b="1" i="0" u="none" strike="noStrike" baseline="0">
                      <a:solidFill>
                        <a:schemeClr val="bg1"/>
                      </a:solidFill>
                      <a:latin typeface="Arial"/>
                    </a:rPr>
                    <a:t>1 154</a:t>
                  </a:r>
                </a:p>
              </cx:txPr>
            </cx:dataLabel>
            <cx:dataLabel idx="2" pos="ctr">
              <cx:numFmt formatCode="# ##0;# ##0" sourceLinked="0"/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/>
                      </a:solidFill>
                    </a:defRPr>
                  </a:pPr>
                  <a:r>
                    <a:rPr lang="en-GB" sz="1000" b="1" i="0" u="none" strike="noStrike" baseline="0">
                      <a:solidFill>
                        <a:schemeClr val="bg1"/>
                      </a:solidFill>
                      <a:latin typeface="Arial"/>
                    </a:rPr>
                    <a:t> 487</a:t>
                  </a:r>
                </a:p>
              </cx:txPr>
            </cx:dataLabel>
            <cx:dataLabel idx="3" pos="ctr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/>
                      </a:solidFill>
                    </a:defRPr>
                  </a:pPr>
                  <a:r>
                    <a:rPr lang="en-GB" sz="1000" b="1" i="0" u="none" strike="noStrike" baseline="0">
                      <a:solidFill>
                        <a:schemeClr val="bg1"/>
                      </a:solidFill>
                      <a:latin typeface="Arial"/>
                    </a:rPr>
                    <a:t> 141</a:t>
                  </a:r>
                </a:p>
              </cx:txPr>
            </cx:dataLabel>
            <cx:dataLabel idx="5" pos="ctr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>
                      <a:solidFill>
                        <a:schemeClr val="bg1"/>
                      </a:solidFill>
                    </a:defRPr>
                  </a:pPr>
                  <a:r>
                    <a:rPr lang="en-GB" sz="1000" b="1" i="0" u="none" strike="noStrike" baseline="0">
                      <a:solidFill>
                        <a:schemeClr val="bg1"/>
                      </a:solidFill>
                      <a:latin typeface="Arial"/>
                    </a:rPr>
                    <a:t> 366</a:t>
                  </a:r>
                </a:p>
              </cx:txPr>
            </cx:dataLabel>
          </cx:dataLabels>
          <cx:dataId val="0"/>
          <cx:layoutPr>
            <cx:visibility connectorLines="1"/>
            <cx:subtotals>
              <cx:idx val="4"/>
              <cx:idx val="6"/>
              <cx:idx val="7"/>
            </cx:subtotals>
          </cx:layoutPr>
        </cx:series>
      </cx:plotAreaRegion>
      <cx:axis id="0">
        <cx:catScaling gapWidth="0.5"/>
        <cx:tickLabels/>
        <cx:spPr>
          <a:ln w="38100">
            <a:solidFill>
              <a:srgbClr val="6E6E6E"/>
            </a:solidFill>
          </a:ln>
        </cx:spPr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b="1">
                <a:solidFill>
                  <a:schemeClr val="tx1"/>
                </a:solidFill>
              </a:defRPr>
            </a:pPr>
            <a:endParaRPr lang="en-GB" sz="900" b="1" i="0" u="none" strike="noStrike" baseline="0">
              <a:solidFill>
                <a:schemeClr val="tx1"/>
              </a:solidFill>
              <a:latin typeface="Arial"/>
            </a:endParaRPr>
          </a:p>
        </cx:txPr>
      </cx:axis>
      <cx:axis id="1" hidden="1">
        <cx:valScaling/>
        <cx:tickLabels/>
      </cx:axis>
    </cx:plotArea>
  </cx:chart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Sheet1!$A$2:$A$9</cx:f>
        <cx:lvl ptCount="8">
          <cx:pt idx="0">Net debt
31 Dec 2024</cx:pt>
          <cx:pt idx="1">Simplified
FCF</cx:pt>
          <cx:pt idx="2">Change in
WC</cx:pt>
          <cx:pt idx="3">Acquisitions</cx:pt>
          <cx:pt idx="4">Dividend
payout</cx:pt>
          <cx:pt idx="5">Income tax
paid</cx:pt>
          <cx:pt idx="6">Other</cx:pt>
          <cx:pt idx="7">Net debt
30 Sep 2025</cx:pt>
        </cx:lvl>
      </cx:strDim>
      <cx:numDim type="val">
        <cx:f>Sheet1!$B$2:$B$9</cx:f>
        <cx:lvl ptCount="8" formatCode="General">
          <cx:pt idx="0">2065</cx:pt>
          <cx:pt idx="1">-1651</cx:pt>
          <cx:pt idx="2">-365</cx:pt>
          <cx:pt idx="3">32</cx:pt>
          <cx:pt idx="4">616</cx:pt>
          <cx:pt idx="5">487</cx:pt>
          <cx:pt idx="6">255</cx:pt>
          <cx:pt idx="7">1439</cx:pt>
        </cx:lvl>
      </cx:numDim>
    </cx:data>
  </cx:chartData>
  <cx:chart>
    <cx:plotArea>
      <cx:plotAreaRegion>
        <cx:plotSurface>
          <cx:spPr>
            <a:noFill/>
          </cx:spPr>
        </cx:plotSurface>
        <cx:series layoutId="waterfall" uniqueId="{AC393BAE-275B-7C45-AA4B-E89C7955923A}">
          <cx:tx>
            <cx:txData>
              <cx:f>Sheet1!$B$1</cx:f>
              <cx:v>Values</cx:v>
            </cx:txData>
          </cx:tx>
          <cx:spPr>
            <a:solidFill>
              <a:srgbClr val="E00120"/>
            </a:solidFill>
            <a:ln w="12700">
              <a:solidFill>
                <a:srgbClr val="000000">
                  <a:alpha val="0"/>
                </a:srgbClr>
              </a:solidFill>
              <a:prstDash val="dash"/>
            </a:ln>
          </cx:spPr>
          <cx:dataPt idx="0">
            <cx:spPr>
              <a:solidFill>
                <a:srgbClr val="6E6E6E"/>
              </a:solidFill>
            </cx:spPr>
          </cx:dataPt>
          <cx:dataPt idx="7">
            <cx:spPr>
              <a:solidFill>
                <a:srgbClr val="99001E"/>
              </a:solidFill>
            </cx:spPr>
          </cx:dataPt>
          <cx:dataLabels pos="ctr">
            <cx:numFmt formatCode="#,##0" sourceLinked="0"/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00">
                    <a:solidFill>
                      <a:schemeClr val="bg1"/>
                    </a:solidFill>
                  </a:defRPr>
                </a:pPr>
                <a:endParaRPr lang="en-US" sz="900" b="0" i="0" u="none" strike="noStrike" baseline="0">
                  <a:solidFill>
                    <a:schemeClr val="bg1"/>
                  </a:solidFill>
                  <a:latin typeface="Arial"/>
                </a:endParaRPr>
              </a:p>
            </cx:txPr>
            <cx:visibility seriesName="0" categoryName="0" value="1"/>
            <cx:dataLabel idx="3">
              <cx:numFmt formatCode="#,##0" sourceLinked="0"/>
              <cx:spPr>
                <a:solidFill>
                  <a:srgbClr val="E00120"/>
                </a:solidFill>
              </cx:spPr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900">
                      <a:solidFill>
                        <a:schemeClr val="bg1"/>
                      </a:solidFill>
                    </a:defRPr>
                  </a:pPr>
                  <a:r>
                    <a:rPr lang="en-US" sz="900" b="0" i="0" u="none" strike="noStrike" baseline="0">
                      <a:solidFill>
                        <a:schemeClr val="bg1"/>
                      </a:solidFill>
                      <a:latin typeface="Arial"/>
                    </a:rPr>
                    <a:t>32,0</a:t>
                  </a:r>
                </a:p>
              </cx:txPr>
              <cx:visibility seriesName="0" categoryName="0" value="1"/>
            </cx:dataLabel>
            <cx:dataLabel idx="6">
              <cx:numFmt formatCode="#,##0" sourceLinked="0"/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900">
                      <a:solidFill>
                        <a:schemeClr val="bg1"/>
                      </a:solidFill>
                    </a:defRPr>
                  </a:pPr>
                  <a:r>
                    <a:rPr lang="en-US" sz="900" b="0" i="0" u="none" strike="noStrike" baseline="0">
                      <a:solidFill>
                        <a:schemeClr val="bg1"/>
                      </a:solidFill>
                      <a:latin typeface="Arial"/>
                    </a:rPr>
                    <a:t>255,0</a:t>
                  </a:r>
                </a:p>
              </cx:txPr>
              <cx:visibility seriesName="0" categoryName="0" value="1"/>
            </cx:dataLabel>
          </cx:dataLabels>
          <cx:dataId val="0"/>
          <cx:layoutPr>
            <cx:visibility connectorLines="1"/>
            <cx:subtotals>
              <cx:idx val="0"/>
              <cx:idx val="4"/>
              <cx:idx val="7"/>
            </cx:subtotals>
          </cx:layoutPr>
        </cx:series>
      </cx:plotAreaRegion>
      <cx:axis id="0">
        <cx:catScaling gapWidth="0.5"/>
        <cx:tickLabels/>
        <cx:spPr>
          <a:ln>
            <a:solidFill>
              <a:schemeClr val="tx1"/>
            </a:solidFill>
          </a:ln>
        </cx:spPr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800">
                <a:solidFill>
                  <a:schemeClr val="tx1"/>
                </a:solidFill>
              </a:defRPr>
            </a:pPr>
            <a:endParaRPr lang="en-US" sz="800" b="0" i="0" u="none" strike="noStrike" baseline="0">
              <a:solidFill>
                <a:schemeClr val="tx1"/>
              </a:solidFill>
              <a:latin typeface="Arial"/>
            </a:endParaRPr>
          </a:p>
        </cx:txPr>
      </cx:axis>
      <cx:axis id="1" hidden="1">
        <cx:valScaling/>
        <cx:tickLabels/>
      </cx:axis>
    </cx:plotArea>
  </cx:chart>
  <cx:spPr>
    <a:noFill/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68a5fe0ff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3868a5fe0ff_0_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g3868a5fe0ff_0_1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68a5fe0ff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3868a5fe0ff_0_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g3868a5fe0ff_0_1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E6D8EC38-D2EE-5F8B-FEE2-1A0D5833E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bdc07648f_0_0:notes">
            <a:extLst>
              <a:ext uri="{FF2B5EF4-FFF2-40B4-BE49-F238E27FC236}">
                <a16:creationId xmlns:a16="http://schemas.microsoft.com/office/drawing/2014/main" id="{3B97CE22-3FCD-E0F0-AFAE-46DBC111E0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cbdc07648f_0_0:notes">
            <a:extLst>
              <a:ext uri="{FF2B5EF4-FFF2-40B4-BE49-F238E27FC236}">
                <a16:creationId xmlns:a16="http://schemas.microsoft.com/office/drawing/2014/main" id="{D2521F9C-A82E-8720-6532-6985D76526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3cbdc07648f_0_0:notes">
            <a:extLst>
              <a:ext uri="{FF2B5EF4-FFF2-40B4-BE49-F238E27FC236}">
                <a16:creationId xmlns:a16="http://schemas.microsoft.com/office/drawing/2014/main" id="{6BA54F00-EBBA-AEF8-AA56-3084472D37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7746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bdc07648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cbdc07648f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5" name="Google Shape;185;g3cbdc07648f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bdc07648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cbdc07648f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g3cbdc07648f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68a5fe0ff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3868a5fe0ff_0_1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g3868a5fe0ff_0_1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6121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14/relationships/chartEx" Target="../charts/chartEx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3" Type="http://schemas.openxmlformats.org/officeDocument/2006/relationships/chart" Target="../charts/chart1.xml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image" Target="../media/image2.png"/><Relationship Id="rId9" Type="http://schemas.openxmlformats.org/officeDocument/2006/relationships/image" Target="../media/image4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microsoft.com/office/2014/relationships/chartEx" Target="../charts/chartEx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microsoft.com/office/2014/relationships/chartEx" Target="../charts/chartEx3.xml"/><Relationship Id="rId4" Type="http://schemas.openxmlformats.org/officeDocument/2006/relationships/chart" Target="../charts/char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3868a5fe0ff_0_101"/>
          <p:cNvPicPr preferRelativeResize="0"/>
          <p:nvPr/>
        </p:nvPicPr>
        <p:blipFill rotWithShape="1">
          <a:blip r:embed="rId3">
            <a:alphaModFix/>
          </a:blip>
          <a:srcRect l="45968"/>
          <a:stretch/>
        </p:blipFill>
        <p:spPr>
          <a:xfrm>
            <a:off x="5604575" y="0"/>
            <a:ext cx="6587426" cy="684430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868a5fe0ff_0_101"/>
          <p:cNvSpPr txBox="1"/>
          <p:nvPr/>
        </p:nvSpPr>
        <p:spPr>
          <a:xfrm>
            <a:off x="552650" y="1268600"/>
            <a:ext cx="4019400" cy="1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[1]</a:t>
            </a:r>
            <a:endParaRPr sz="3000" b="1" i="0" u="none" strike="noStrike" cap="none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g3868a5fe0ff_0_101"/>
          <p:cNvSpPr txBox="1"/>
          <p:nvPr/>
        </p:nvSpPr>
        <p:spPr>
          <a:xfrm>
            <a:off x="534925" y="3677225"/>
            <a:ext cx="29991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[2]</a:t>
            </a:r>
            <a:endParaRPr sz="21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2" name="Google Shape;92;g3868a5fe0ff_0_101"/>
          <p:cNvPicPr preferRelativeResize="0"/>
          <p:nvPr/>
        </p:nvPicPr>
        <p:blipFill rotWithShape="1">
          <a:blip r:embed="rId3">
            <a:alphaModFix/>
          </a:blip>
          <a:srcRect t="90559" r="82563"/>
          <a:stretch/>
        </p:blipFill>
        <p:spPr>
          <a:xfrm>
            <a:off x="0" y="6198151"/>
            <a:ext cx="2125874" cy="64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3868a5fe0ff_0_109"/>
          <p:cNvPicPr preferRelativeResize="0"/>
          <p:nvPr/>
        </p:nvPicPr>
        <p:blipFill rotWithShape="1">
          <a:blip r:embed="rId3">
            <a:alphaModFix/>
          </a:blip>
          <a:srcRect l="80294" t="91228" r="5909" b="2335"/>
          <a:stretch/>
        </p:blipFill>
        <p:spPr>
          <a:xfrm>
            <a:off x="9789575" y="6418191"/>
            <a:ext cx="1681825" cy="4398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868a5fe0ff_0_109"/>
          <p:cNvSpPr txBox="1"/>
          <p:nvPr/>
        </p:nvSpPr>
        <p:spPr>
          <a:xfrm>
            <a:off x="563125" y="1663150"/>
            <a:ext cx="10974000" cy="20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[3]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868a5fe0ff_0_109"/>
          <p:cNvSpPr txBox="1"/>
          <p:nvPr/>
        </p:nvSpPr>
        <p:spPr>
          <a:xfrm>
            <a:off x="563125" y="4189450"/>
            <a:ext cx="10974000" cy="16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[4]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868a5fe0ff_0_109"/>
          <p:cNvSpPr txBox="1">
            <a:spLocks noGrp="1"/>
          </p:cNvSpPr>
          <p:nvPr>
            <p:ph type="sldNum" idx="12"/>
          </p:nvPr>
        </p:nvSpPr>
        <p:spPr>
          <a:xfrm>
            <a:off x="11195623" y="6440266"/>
            <a:ext cx="52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600" b="1"/>
              <a:t>2</a:t>
            </a:fld>
            <a:endParaRPr sz="1600" b="1" dirty="0"/>
          </a:p>
        </p:txBody>
      </p:sp>
      <p:sp>
        <p:nvSpPr>
          <p:cNvPr id="104" name="Google Shape;104;g3868a5fe0ff_0_109"/>
          <p:cNvSpPr/>
          <p:nvPr/>
        </p:nvSpPr>
        <p:spPr>
          <a:xfrm>
            <a:off x="491487" y="3862575"/>
            <a:ext cx="11209024" cy="285750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-US" sz="1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OPERATIONAL AND OTHER DEVELOPMENTS</a:t>
            </a:r>
            <a:endParaRPr sz="1200" b="1">
              <a:solidFill>
                <a:schemeClr val="lt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5" name="Google Shape;105;g3868a5fe0ff_0_109"/>
          <p:cNvSpPr/>
          <p:nvPr/>
        </p:nvSpPr>
        <p:spPr>
          <a:xfrm>
            <a:off x="491487" y="1350650"/>
            <a:ext cx="11209024" cy="285750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-US" sz="1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FINANCIALS</a:t>
            </a:r>
            <a:endParaRPr sz="1200" b="1">
              <a:solidFill>
                <a:schemeClr val="lt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Google Shape;99;g3868a5fe0ff_0_109">
            <a:extLst>
              <a:ext uri="{FF2B5EF4-FFF2-40B4-BE49-F238E27FC236}">
                <a16:creationId xmlns:a16="http://schemas.microsoft.com/office/drawing/2014/main" id="{DFEF76DF-7009-9C51-27D8-0874878F73C5}"/>
              </a:ext>
            </a:extLst>
          </p:cNvPr>
          <p:cNvSpPr txBox="1"/>
          <p:nvPr/>
        </p:nvSpPr>
        <p:spPr>
          <a:xfrm>
            <a:off x="551411" y="363777"/>
            <a:ext cx="10979625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[1]</a:t>
            </a:r>
            <a:endParaRPr sz="2400" b="1" i="0" u="none" strike="noStrike" cap="none" dirty="0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Google Shape;100;g3868a5fe0ff_0_109">
            <a:extLst>
              <a:ext uri="{FF2B5EF4-FFF2-40B4-BE49-F238E27FC236}">
                <a16:creationId xmlns:a16="http://schemas.microsoft.com/office/drawing/2014/main" id="{B2ADD0BB-E8C2-8C8C-55AA-255980F7D681}"/>
              </a:ext>
            </a:extLst>
          </p:cNvPr>
          <p:cNvSpPr txBox="1"/>
          <p:nvPr/>
        </p:nvSpPr>
        <p:spPr>
          <a:xfrm>
            <a:off x="564761" y="726904"/>
            <a:ext cx="10979625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[2]</a:t>
            </a:r>
            <a:endParaRPr sz="15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E5CF4A48-A038-160A-D67A-8CD453BAC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8;g3868a5fe0ff_0_109">
            <a:extLst>
              <a:ext uri="{FF2B5EF4-FFF2-40B4-BE49-F238E27FC236}">
                <a16:creationId xmlns:a16="http://schemas.microsoft.com/office/drawing/2014/main" id="{BD13BF23-9F19-C45E-7C22-8F89855580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80294" t="91228" r="5909" b="2335"/>
          <a:stretch/>
        </p:blipFill>
        <p:spPr>
          <a:xfrm>
            <a:off x="9789575" y="6418191"/>
            <a:ext cx="1681825" cy="43980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3;g3868a5fe0ff_0_109">
            <a:extLst>
              <a:ext uri="{FF2B5EF4-FFF2-40B4-BE49-F238E27FC236}">
                <a16:creationId xmlns:a16="http://schemas.microsoft.com/office/drawing/2014/main" id="{9E0774BF-BC3A-3457-634E-A93D8FDAFF7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195623" y="6440266"/>
            <a:ext cx="52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600" b="1"/>
              <a:t>3</a:t>
            </a:fld>
            <a:endParaRPr sz="1600" b="1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2" name="Chart 1">
                <a:extLst>
                  <a:ext uri="{FF2B5EF4-FFF2-40B4-BE49-F238E27FC236}">
                    <a16:creationId xmlns:a16="http://schemas.microsoft.com/office/drawing/2014/main" id="{7F0AD818-6FBC-90B0-754C-706F899FFC8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445702385"/>
                  </p:ext>
                </p:extLst>
              </p:nvPr>
            </p:nvGraphicFramePr>
            <p:xfrm>
              <a:off x="1151068" y="1538343"/>
              <a:ext cx="10133704" cy="395881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2" name="Chart 1">
                <a:extLst>
                  <a:ext uri="{FF2B5EF4-FFF2-40B4-BE49-F238E27FC236}">
                    <a16:creationId xmlns:a16="http://schemas.microsoft.com/office/drawing/2014/main" id="{7F0AD818-6FBC-90B0-754C-706F899FFC8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51068" y="1538343"/>
                <a:ext cx="10133704" cy="3958814"/>
              </a:xfrm>
              <a:prstGeom prst="rect">
                <a:avLst/>
              </a:prstGeom>
            </p:spPr>
          </p:pic>
        </mc:Fallback>
      </mc:AlternateContent>
      <p:sp>
        <p:nvSpPr>
          <p:cNvPr id="8" name="Google Shape;181;g3cbdc07648f_0_0">
            <a:extLst>
              <a:ext uri="{FF2B5EF4-FFF2-40B4-BE49-F238E27FC236}">
                <a16:creationId xmlns:a16="http://schemas.microsoft.com/office/drawing/2014/main" id="{DCDD4132-32A3-DB45-9716-25E3719B9CDD}"/>
              </a:ext>
            </a:extLst>
          </p:cNvPr>
          <p:cNvSpPr/>
          <p:nvPr/>
        </p:nvSpPr>
        <p:spPr>
          <a:xfrm>
            <a:off x="659583" y="1538343"/>
            <a:ext cx="10811817" cy="267827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FY 2025 EARNINGS (USD </a:t>
            </a:r>
            <a:r>
              <a:rPr lang="en-US" sz="1200" b="1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mn</a:t>
            </a: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- BELOW THE EBITDA LINE ITEMS</a:t>
            </a:r>
            <a:endParaRPr sz="1200" b="1" dirty="0">
              <a:solidFill>
                <a:schemeClr val="lt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Google Shape;99;g3868a5fe0ff_0_109">
            <a:extLst>
              <a:ext uri="{FF2B5EF4-FFF2-40B4-BE49-F238E27FC236}">
                <a16:creationId xmlns:a16="http://schemas.microsoft.com/office/drawing/2014/main" id="{30D9C5C5-250E-6BDE-6FC6-63E47CF71A3B}"/>
              </a:ext>
            </a:extLst>
          </p:cNvPr>
          <p:cNvSpPr txBox="1"/>
          <p:nvPr/>
        </p:nvSpPr>
        <p:spPr>
          <a:xfrm>
            <a:off x="551411" y="363777"/>
            <a:ext cx="10979625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[1]</a:t>
            </a:r>
            <a:endParaRPr sz="2400" b="1" i="0" u="none" strike="noStrike" cap="none" dirty="0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" name="Google Shape;100;g3868a5fe0ff_0_109">
            <a:extLst>
              <a:ext uri="{FF2B5EF4-FFF2-40B4-BE49-F238E27FC236}">
                <a16:creationId xmlns:a16="http://schemas.microsoft.com/office/drawing/2014/main" id="{65F68FFD-903C-C845-1FF5-72E942B326E3}"/>
              </a:ext>
            </a:extLst>
          </p:cNvPr>
          <p:cNvSpPr txBox="1"/>
          <p:nvPr/>
        </p:nvSpPr>
        <p:spPr>
          <a:xfrm>
            <a:off x="564761" y="726904"/>
            <a:ext cx="10979625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[2]</a:t>
            </a:r>
            <a:endParaRPr sz="15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572249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89;g3cbdc07648f_0_11">
            <a:extLst>
              <a:ext uri="{FF2B5EF4-FFF2-40B4-BE49-F238E27FC236}">
                <a16:creationId xmlns:a16="http://schemas.microsoft.com/office/drawing/2014/main" id="{DA390639-9D40-B27D-66A9-B739D821F6E6}"/>
              </a:ext>
            </a:extLst>
          </p:cNvPr>
          <p:cNvSpPr/>
          <p:nvPr/>
        </p:nvSpPr>
        <p:spPr>
          <a:xfrm>
            <a:off x="534155" y="1167897"/>
            <a:ext cx="6609030" cy="244255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Clean CCS effect, gain / loss (USD </a:t>
            </a:r>
            <a:r>
              <a:rPr lang="en-US" sz="1200" b="1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mn</a:t>
            </a: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89;g3cbdc07648f_0_11">
            <a:extLst>
              <a:ext uri="{FF2B5EF4-FFF2-40B4-BE49-F238E27FC236}">
                <a16:creationId xmlns:a16="http://schemas.microsoft.com/office/drawing/2014/main" id="{3CD6BB9E-3880-120B-0BD6-98FD9DFAFB43}"/>
              </a:ext>
            </a:extLst>
          </p:cNvPr>
          <p:cNvSpPr/>
          <p:nvPr/>
        </p:nvSpPr>
        <p:spPr>
          <a:xfrm>
            <a:off x="534155" y="2180376"/>
            <a:ext cx="6609030" cy="244255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DD&amp;A (USD </a:t>
            </a:r>
            <a:r>
              <a:rPr lang="en-US" sz="1200" b="1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mn</a:t>
            </a: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89;g3cbdc07648f_0_11">
            <a:extLst>
              <a:ext uri="{FF2B5EF4-FFF2-40B4-BE49-F238E27FC236}">
                <a16:creationId xmlns:a16="http://schemas.microsoft.com/office/drawing/2014/main" id="{873B169F-7AC1-270F-D355-72B7AB324EB3}"/>
              </a:ext>
            </a:extLst>
          </p:cNvPr>
          <p:cNvSpPr/>
          <p:nvPr/>
        </p:nvSpPr>
        <p:spPr>
          <a:xfrm>
            <a:off x="534155" y="3234758"/>
            <a:ext cx="6609030" cy="244255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Total Financial expense (+) / gain (-) (USD </a:t>
            </a:r>
            <a:r>
              <a:rPr lang="en-US" sz="1200" b="1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mn</a:t>
            </a: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89;g3cbdc07648f_0_11">
            <a:extLst>
              <a:ext uri="{FF2B5EF4-FFF2-40B4-BE49-F238E27FC236}">
                <a16:creationId xmlns:a16="http://schemas.microsoft.com/office/drawing/2014/main" id="{4FBE47B1-F2F8-D376-5A86-3EB26A2853BF}"/>
              </a:ext>
            </a:extLst>
          </p:cNvPr>
          <p:cNvSpPr/>
          <p:nvPr/>
        </p:nvSpPr>
        <p:spPr>
          <a:xfrm>
            <a:off x="534155" y="4289140"/>
            <a:ext cx="6609030" cy="244255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Income from associates (USD </a:t>
            </a:r>
            <a:r>
              <a:rPr lang="en-US" sz="1200" b="1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mn</a:t>
            </a: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89;g3cbdc07648f_0_11">
            <a:extLst>
              <a:ext uri="{FF2B5EF4-FFF2-40B4-BE49-F238E27FC236}">
                <a16:creationId xmlns:a16="http://schemas.microsoft.com/office/drawing/2014/main" id="{42E50F36-EBA0-9BD6-4C66-78727AEC73ED}"/>
              </a:ext>
            </a:extLst>
          </p:cNvPr>
          <p:cNvSpPr/>
          <p:nvPr/>
        </p:nvSpPr>
        <p:spPr>
          <a:xfrm>
            <a:off x="534155" y="5445848"/>
            <a:ext cx="6609030" cy="244255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Income tax expenses (USD </a:t>
            </a:r>
            <a:r>
              <a:rPr lang="en-US" sz="1200" b="1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mn</a:t>
            </a: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89;g3cbdc07648f_0_11">
            <a:extLst>
              <a:ext uri="{FF2B5EF4-FFF2-40B4-BE49-F238E27FC236}">
                <a16:creationId xmlns:a16="http://schemas.microsoft.com/office/drawing/2014/main" id="{EB7E71E9-8CB1-4463-23F5-53556E15D56C}"/>
              </a:ext>
            </a:extLst>
          </p:cNvPr>
          <p:cNvSpPr/>
          <p:nvPr/>
        </p:nvSpPr>
        <p:spPr>
          <a:xfrm>
            <a:off x="7487216" y="1167896"/>
            <a:ext cx="4101220" cy="244255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Comments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0DAC5825-F814-B13C-D52D-9D91D92EC8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1831653"/>
              </p:ext>
            </p:extLst>
          </p:nvPr>
        </p:nvGraphicFramePr>
        <p:xfrm>
          <a:off x="544474" y="1520564"/>
          <a:ext cx="6645416" cy="6273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Google Shape;101;g3868a5fe0ff_0_109">
            <a:extLst>
              <a:ext uri="{FF2B5EF4-FFF2-40B4-BE49-F238E27FC236}">
                <a16:creationId xmlns:a16="http://schemas.microsoft.com/office/drawing/2014/main" id="{438721D1-078D-7F44-B0E5-99A71BE8C8D6}"/>
              </a:ext>
            </a:extLst>
          </p:cNvPr>
          <p:cNvSpPr txBox="1"/>
          <p:nvPr/>
        </p:nvSpPr>
        <p:spPr>
          <a:xfrm>
            <a:off x="7535344" y="1473672"/>
            <a:ext cx="3887510" cy="9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ct val="115000"/>
              <a:buFont typeface="Calibri"/>
              <a:buChar char="⏵"/>
            </a:pPr>
            <a:r>
              <a:rPr lang="en-US" sz="13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[2]</a:t>
            </a:r>
            <a:endParaRPr sz="13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01;g3868a5fe0ff_0_109">
            <a:extLst>
              <a:ext uri="{FF2B5EF4-FFF2-40B4-BE49-F238E27FC236}">
                <a16:creationId xmlns:a16="http://schemas.microsoft.com/office/drawing/2014/main" id="{ECDC16C4-D4B3-AB8F-FC51-7039C152ECDE}"/>
              </a:ext>
            </a:extLst>
          </p:cNvPr>
          <p:cNvSpPr txBox="1"/>
          <p:nvPr/>
        </p:nvSpPr>
        <p:spPr>
          <a:xfrm>
            <a:off x="7535344" y="2550144"/>
            <a:ext cx="3887510" cy="9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ct val="115000"/>
              <a:buFont typeface="Calibri"/>
              <a:buChar char="⏵"/>
            </a:pPr>
            <a:r>
              <a:rPr lang="en-US" sz="13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[3]</a:t>
            </a:r>
          </a:p>
        </p:txBody>
      </p:sp>
      <p:sp>
        <p:nvSpPr>
          <p:cNvPr id="24" name="Google Shape;101;g3868a5fe0ff_0_109">
            <a:extLst>
              <a:ext uri="{FF2B5EF4-FFF2-40B4-BE49-F238E27FC236}">
                <a16:creationId xmlns:a16="http://schemas.microsoft.com/office/drawing/2014/main" id="{4456A525-6EC9-4D82-C5C9-F1DEB5CF0C6E}"/>
              </a:ext>
            </a:extLst>
          </p:cNvPr>
          <p:cNvSpPr txBox="1"/>
          <p:nvPr/>
        </p:nvSpPr>
        <p:spPr>
          <a:xfrm>
            <a:off x="7535344" y="3501104"/>
            <a:ext cx="3887510" cy="9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ct val="115000"/>
              <a:buFont typeface="Calibri"/>
              <a:buChar char="⏵"/>
            </a:pPr>
            <a:r>
              <a:rPr lang="en-US" sz="13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[4]</a:t>
            </a:r>
          </a:p>
        </p:txBody>
      </p:sp>
      <p:sp>
        <p:nvSpPr>
          <p:cNvPr id="25" name="Google Shape;101;g3868a5fe0ff_0_109">
            <a:extLst>
              <a:ext uri="{FF2B5EF4-FFF2-40B4-BE49-F238E27FC236}">
                <a16:creationId xmlns:a16="http://schemas.microsoft.com/office/drawing/2014/main" id="{F116F8AC-3511-1219-9C12-07EE3F65C16D}"/>
              </a:ext>
            </a:extLst>
          </p:cNvPr>
          <p:cNvSpPr txBox="1"/>
          <p:nvPr/>
        </p:nvSpPr>
        <p:spPr>
          <a:xfrm>
            <a:off x="7535344" y="4710047"/>
            <a:ext cx="3887510" cy="9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ct val="115000"/>
              <a:buFont typeface="Calibri"/>
              <a:buChar char="⏵"/>
            </a:pPr>
            <a:r>
              <a:rPr lang="en-US" sz="13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[5]</a:t>
            </a:r>
          </a:p>
        </p:txBody>
      </p:sp>
      <p:sp>
        <p:nvSpPr>
          <p:cNvPr id="26" name="Google Shape;101;g3868a5fe0ff_0_109">
            <a:extLst>
              <a:ext uri="{FF2B5EF4-FFF2-40B4-BE49-F238E27FC236}">
                <a16:creationId xmlns:a16="http://schemas.microsoft.com/office/drawing/2014/main" id="{B11B964D-69A6-CA28-2E0E-7A29EBA3F247}"/>
              </a:ext>
            </a:extLst>
          </p:cNvPr>
          <p:cNvSpPr txBox="1"/>
          <p:nvPr/>
        </p:nvSpPr>
        <p:spPr>
          <a:xfrm>
            <a:off x="7535344" y="5738398"/>
            <a:ext cx="3887510" cy="9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ct val="115000"/>
              <a:buFont typeface="Calibri"/>
              <a:buChar char="⏵"/>
            </a:pPr>
            <a:r>
              <a:rPr lang="en-US" sz="13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[6]</a:t>
            </a:r>
          </a:p>
        </p:txBody>
      </p:sp>
      <p:pic>
        <p:nvPicPr>
          <p:cNvPr id="29" name="Google Shape;98;g3868a5fe0ff_0_109">
            <a:extLst>
              <a:ext uri="{FF2B5EF4-FFF2-40B4-BE49-F238E27FC236}">
                <a16:creationId xmlns:a16="http://schemas.microsoft.com/office/drawing/2014/main" id="{B0616525-60A6-8C32-4B60-25D4F86ECBF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80294" t="91228" r="5909" b="2335"/>
          <a:stretch/>
        </p:blipFill>
        <p:spPr>
          <a:xfrm>
            <a:off x="9789575" y="6418191"/>
            <a:ext cx="1681825" cy="439809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103;g3868a5fe0ff_0_109">
            <a:extLst>
              <a:ext uri="{FF2B5EF4-FFF2-40B4-BE49-F238E27FC236}">
                <a16:creationId xmlns:a16="http://schemas.microsoft.com/office/drawing/2014/main" id="{2156B8C9-A6A1-058C-7CC2-831F21FF11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195623" y="6440266"/>
            <a:ext cx="52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600" b="1"/>
              <a:t>4</a:t>
            </a:fld>
            <a:endParaRPr sz="1600" b="1" dirty="0"/>
          </a:p>
        </p:txBody>
      </p:sp>
      <p:graphicFrame>
        <p:nvGraphicFramePr>
          <p:cNvPr id="32" name="Chart 31">
            <a:extLst>
              <a:ext uri="{FF2B5EF4-FFF2-40B4-BE49-F238E27FC236}">
                <a16:creationId xmlns:a16="http://schemas.microsoft.com/office/drawing/2014/main" id="{6681DBAE-096F-9621-B468-E58A0235E4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265957"/>
              </p:ext>
            </p:extLst>
          </p:nvPr>
        </p:nvGraphicFramePr>
        <p:xfrm>
          <a:off x="557751" y="2387912"/>
          <a:ext cx="6645416" cy="9325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3" name="Chart 32">
            <a:extLst>
              <a:ext uri="{FF2B5EF4-FFF2-40B4-BE49-F238E27FC236}">
                <a16:creationId xmlns:a16="http://schemas.microsoft.com/office/drawing/2014/main" id="{7CFC0749-6AED-2F9E-8DF0-1EF001118D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3941417"/>
              </p:ext>
            </p:extLst>
          </p:nvPr>
        </p:nvGraphicFramePr>
        <p:xfrm>
          <a:off x="544474" y="3501104"/>
          <a:ext cx="6645416" cy="8654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3834794D-CD1B-33B4-DD6A-2DF736729F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6631796"/>
              </p:ext>
            </p:extLst>
          </p:nvPr>
        </p:nvGraphicFramePr>
        <p:xfrm>
          <a:off x="544474" y="4449053"/>
          <a:ext cx="6645416" cy="1081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04EE5D08-0C90-618F-8ACC-E60C52A743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1332658"/>
              </p:ext>
            </p:extLst>
          </p:nvPr>
        </p:nvGraphicFramePr>
        <p:xfrm>
          <a:off x="594780" y="5804453"/>
          <a:ext cx="6645416" cy="9811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6" name="Oval 35">
            <a:extLst>
              <a:ext uri="{FF2B5EF4-FFF2-40B4-BE49-F238E27FC236}">
                <a16:creationId xmlns:a16="http://schemas.microsoft.com/office/drawing/2014/main" id="{065FD240-AAAD-9D3C-5635-0BB34BA2F125}"/>
              </a:ext>
            </a:extLst>
          </p:cNvPr>
          <p:cNvSpPr/>
          <p:nvPr/>
        </p:nvSpPr>
        <p:spPr>
          <a:xfrm>
            <a:off x="1450879" y="5723445"/>
            <a:ext cx="586721" cy="244256"/>
          </a:xfrm>
          <a:prstGeom prst="ellipse">
            <a:avLst/>
          </a:prstGeom>
          <a:solidFill>
            <a:schemeClr val="tx2">
              <a:lumMod val="90000"/>
            </a:schemeClr>
          </a:solidFill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7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FB31A53-432D-8CA2-24F3-C14907C5A94A}"/>
              </a:ext>
            </a:extLst>
          </p:cNvPr>
          <p:cNvSpPr/>
          <p:nvPr/>
        </p:nvSpPr>
        <p:spPr>
          <a:xfrm>
            <a:off x="3587098" y="5728544"/>
            <a:ext cx="586721" cy="244256"/>
          </a:xfrm>
          <a:prstGeom prst="ellipse">
            <a:avLst/>
          </a:prstGeom>
          <a:solidFill>
            <a:schemeClr val="tx2">
              <a:lumMod val="90000"/>
            </a:schemeClr>
          </a:solidFill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700" dirty="0">
                <a:solidFill>
                  <a:schemeClr val="tx1"/>
                </a:solidFill>
              </a:rPr>
              <a:t>-2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94F7DF1-FFD6-E5E0-AFAD-AC4E539F04A9}"/>
              </a:ext>
            </a:extLst>
          </p:cNvPr>
          <p:cNvSpPr/>
          <p:nvPr/>
        </p:nvSpPr>
        <p:spPr>
          <a:xfrm>
            <a:off x="5723317" y="5737639"/>
            <a:ext cx="586721" cy="244256"/>
          </a:xfrm>
          <a:prstGeom prst="ellipse">
            <a:avLst/>
          </a:prstGeom>
          <a:solidFill>
            <a:schemeClr val="tx2">
              <a:lumMod val="90000"/>
            </a:schemeClr>
          </a:solidFill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700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84F68F3-C736-E1FC-6E0D-7223BBD16DBE}"/>
              </a:ext>
            </a:extLst>
          </p:cNvPr>
          <p:cNvSpPr txBox="1"/>
          <p:nvPr/>
        </p:nvSpPr>
        <p:spPr>
          <a:xfrm>
            <a:off x="448397" y="5757356"/>
            <a:ext cx="11425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U" sz="800" b="1" i="1" dirty="0"/>
              <a:t>Deferred tax →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26C3CB5-1D44-EC7C-CFBC-FFDD7F60F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9650" y="3422650"/>
            <a:ext cx="127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99;g3868a5fe0ff_0_109">
            <a:extLst>
              <a:ext uri="{FF2B5EF4-FFF2-40B4-BE49-F238E27FC236}">
                <a16:creationId xmlns:a16="http://schemas.microsoft.com/office/drawing/2014/main" id="{4C2CFBB3-41E4-4A55-00A6-1E36016D62FB}"/>
              </a:ext>
            </a:extLst>
          </p:cNvPr>
          <p:cNvSpPr txBox="1"/>
          <p:nvPr/>
        </p:nvSpPr>
        <p:spPr>
          <a:xfrm>
            <a:off x="551411" y="363777"/>
            <a:ext cx="10979625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[1]</a:t>
            </a:r>
            <a:endParaRPr sz="2400" b="1" i="0" u="none" strike="noStrike" cap="none" dirty="0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Google Shape;100;g3868a5fe0ff_0_109">
            <a:extLst>
              <a:ext uri="{FF2B5EF4-FFF2-40B4-BE49-F238E27FC236}">
                <a16:creationId xmlns:a16="http://schemas.microsoft.com/office/drawing/2014/main" id="{6FD05AB9-78BA-A596-C3A6-4194231E7663}"/>
              </a:ext>
            </a:extLst>
          </p:cNvPr>
          <p:cNvSpPr txBox="1"/>
          <p:nvPr/>
        </p:nvSpPr>
        <p:spPr>
          <a:xfrm>
            <a:off x="564761" y="726904"/>
            <a:ext cx="10979625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[2]</a:t>
            </a:r>
            <a:endParaRPr sz="15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9;g3868a5fe0ff_0_109">
            <a:extLst>
              <a:ext uri="{FF2B5EF4-FFF2-40B4-BE49-F238E27FC236}">
                <a16:creationId xmlns:a16="http://schemas.microsoft.com/office/drawing/2014/main" id="{89C7B397-91EA-5DEA-59E0-81C4F45F086B}"/>
              </a:ext>
            </a:extLst>
          </p:cNvPr>
          <p:cNvSpPr txBox="1"/>
          <p:nvPr/>
        </p:nvSpPr>
        <p:spPr>
          <a:xfrm>
            <a:off x="551411" y="363777"/>
            <a:ext cx="10979625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[1]</a:t>
            </a:r>
            <a:endParaRPr sz="2400" b="1" i="0" u="none" strike="noStrike" cap="none" dirty="0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Google Shape;100;g3868a5fe0ff_0_109">
            <a:extLst>
              <a:ext uri="{FF2B5EF4-FFF2-40B4-BE49-F238E27FC236}">
                <a16:creationId xmlns:a16="http://schemas.microsoft.com/office/drawing/2014/main" id="{C4AB9438-C45E-72E2-2B7C-C3009F5143D0}"/>
              </a:ext>
            </a:extLst>
          </p:cNvPr>
          <p:cNvSpPr txBox="1"/>
          <p:nvPr/>
        </p:nvSpPr>
        <p:spPr>
          <a:xfrm>
            <a:off x="564761" y="726904"/>
            <a:ext cx="10979625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[2]</a:t>
            </a:r>
            <a:endParaRPr sz="15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Google Shape;105;g3868a5fe0ff_0_109">
            <a:extLst>
              <a:ext uri="{FF2B5EF4-FFF2-40B4-BE49-F238E27FC236}">
                <a16:creationId xmlns:a16="http://schemas.microsoft.com/office/drawing/2014/main" id="{76709F85-3B7F-8CF9-37AE-9650CA9234FF}"/>
              </a:ext>
            </a:extLst>
          </p:cNvPr>
          <p:cNvSpPr/>
          <p:nvPr/>
        </p:nvSpPr>
        <p:spPr>
          <a:xfrm>
            <a:off x="660964" y="1350650"/>
            <a:ext cx="10870072" cy="285750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 CASH FLOW FOR TOTAL OPERATION IN FY 2025 (USD </a:t>
            </a:r>
            <a:r>
              <a:rPr lang="en-US" sz="1200" b="1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mn</a:t>
            </a: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lang="en-US" sz="1200" b="1" dirty="0">
              <a:solidFill>
                <a:schemeClr val="lt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Google Shape;105;g3868a5fe0ff_0_109">
            <a:extLst>
              <a:ext uri="{FF2B5EF4-FFF2-40B4-BE49-F238E27FC236}">
                <a16:creationId xmlns:a16="http://schemas.microsoft.com/office/drawing/2014/main" id="{105C30FC-302B-7ECB-492F-A27A67795537}"/>
              </a:ext>
            </a:extLst>
          </p:cNvPr>
          <p:cNvSpPr/>
          <p:nvPr/>
        </p:nvSpPr>
        <p:spPr>
          <a:xfrm>
            <a:off x="660963" y="4799143"/>
            <a:ext cx="10870073" cy="285750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COMMENTS</a:t>
            </a:r>
            <a:endParaRPr sz="1200" b="1" dirty="0">
              <a:solidFill>
                <a:schemeClr val="lt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Google Shape;101;g3868a5fe0ff_0_109">
            <a:extLst>
              <a:ext uri="{FF2B5EF4-FFF2-40B4-BE49-F238E27FC236}">
                <a16:creationId xmlns:a16="http://schemas.microsoft.com/office/drawing/2014/main" id="{5A475BF3-6D03-8482-7FEF-A42670F999D9}"/>
              </a:ext>
            </a:extLst>
          </p:cNvPr>
          <p:cNvSpPr txBox="1"/>
          <p:nvPr/>
        </p:nvSpPr>
        <p:spPr>
          <a:xfrm>
            <a:off x="678719" y="5188222"/>
            <a:ext cx="10174162" cy="9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ct val="115000"/>
              <a:buFont typeface="Calibri"/>
              <a:buChar char="⏵"/>
            </a:pPr>
            <a:r>
              <a:rPr lang="en-US" sz="13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[3]</a:t>
            </a:r>
          </a:p>
        </p:txBody>
      </p:sp>
      <p:pic>
        <p:nvPicPr>
          <p:cNvPr id="9" name="Google Shape;98;g3868a5fe0ff_0_109">
            <a:extLst>
              <a:ext uri="{FF2B5EF4-FFF2-40B4-BE49-F238E27FC236}">
                <a16:creationId xmlns:a16="http://schemas.microsoft.com/office/drawing/2014/main" id="{91C92CFD-DC35-30BA-2737-94CF1F2E6CB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80294" t="91228" r="5909" b="2335"/>
          <a:stretch/>
        </p:blipFill>
        <p:spPr>
          <a:xfrm>
            <a:off x="9789575" y="6418191"/>
            <a:ext cx="1681825" cy="43980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3;g3868a5fe0ff_0_109">
            <a:extLst>
              <a:ext uri="{FF2B5EF4-FFF2-40B4-BE49-F238E27FC236}">
                <a16:creationId xmlns:a16="http://schemas.microsoft.com/office/drawing/2014/main" id="{C5FEBB8A-36B5-D1C5-F3E5-651F7309A3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195623" y="6440266"/>
            <a:ext cx="52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600" b="1"/>
              <a:t>5</a:t>
            </a:fld>
            <a:endParaRPr sz="1600" b="1" dirty="0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1" name="Chart 10">
                <a:extLst>
                  <a:ext uri="{FF2B5EF4-FFF2-40B4-BE49-F238E27FC236}">
                    <a16:creationId xmlns:a16="http://schemas.microsoft.com/office/drawing/2014/main" id="{45AE5C34-507A-E5E6-171E-A10E8206F5D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489058298"/>
                  </p:ext>
                </p:extLst>
              </p:nvPr>
            </p:nvGraphicFramePr>
            <p:xfrm>
              <a:off x="660964" y="1350650"/>
              <a:ext cx="10431106" cy="337743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11" name="Chart 10">
                <a:extLst>
                  <a:ext uri="{FF2B5EF4-FFF2-40B4-BE49-F238E27FC236}">
                    <a16:creationId xmlns:a16="http://schemas.microsoft.com/office/drawing/2014/main" id="{45AE5C34-507A-E5E6-171E-A10E8206F5D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0964" y="1350650"/>
                <a:ext cx="10431106" cy="3377438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26720" y="1063019"/>
            <a:ext cx="54864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DEBT TO EBITDA (x</a:t>
            </a:r>
            <a:endParaRPr lang="en-US" sz="1000" dirty="0"/>
          </a:p>
        </p:txBody>
      </p:sp>
      <p:graphicFrame>
        <p:nvGraphicFramePr>
          <p:cNvPr id="16" name="Chart 0"/>
          <p:cNvGraphicFramePr/>
          <p:nvPr>
            <p:extLst>
              <p:ext uri="{D42A27DB-BD31-4B8C-83A1-F6EECF244321}">
                <p14:modId xmlns:p14="http://schemas.microsoft.com/office/powerpoint/2010/main" val="972231167"/>
              </p:ext>
            </p:extLst>
          </p:nvPr>
        </p:nvGraphicFramePr>
        <p:xfrm>
          <a:off x="519136" y="1664917"/>
          <a:ext cx="5515928" cy="21915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938784" y="2725543"/>
            <a:ext cx="4815840" cy="0"/>
          </a:xfrm>
          <a:prstGeom prst="line">
            <a:avLst/>
          </a:prstGeom>
          <a:noFill/>
          <a:ln w="9525">
            <a:solidFill>
              <a:srgbClr val="888888"/>
            </a:solidFill>
            <a:prstDash val="lgDash"/>
          </a:ln>
        </p:spPr>
        <p:txBody>
          <a:bodyPr/>
          <a:lstStyle/>
          <a:p>
            <a:endParaRPr lang="en-US" sz="1867"/>
          </a:p>
        </p:txBody>
      </p:sp>
      <p:graphicFrame>
        <p:nvGraphicFramePr>
          <p:cNvPr id="18" name="Chart 1"/>
          <p:cNvGraphicFramePr/>
          <p:nvPr>
            <p:extLst>
              <p:ext uri="{D42A27DB-BD31-4B8C-83A1-F6EECF244321}">
                <p14:modId xmlns:p14="http://schemas.microsoft.com/office/powerpoint/2010/main" val="3281210339"/>
              </p:ext>
            </p:extLst>
          </p:nvPr>
        </p:nvGraphicFramePr>
        <p:xfrm>
          <a:off x="6262449" y="1630308"/>
          <a:ext cx="5486400" cy="2462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0" name="Text 25"/>
          <p:cNvSpPr/>
          <p:nvPr/>
        </p:nvSpPr>
        <p:spPr>
          <a:xfrm>
            <a:off x="9631680" y="6461760"/>
            <a:ext cx="1828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 MOLGROUP</a:t>
            </a:r>
            <a:endParaRPr lang="en-US" sz="1333" dirty="0"/>
          </a:p>
        </p:txBody>
      </p:sp>
      <p:sp>
        <p:nvSpPr>
          <p:cNvPr id="31" name="Text 26"/>
          <p:cNvSpPr/>
          <p:nvPr/>
        </p:nvSpPr>
        <p:spPr>
          <a:xfrm>
            <a:off x="11361907" y="6461760"/>
            <a:ext cx="610637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13</a:t>
            </a:r>
            <a:endParaRPr lang="en-US" sz="1333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20" name="Chart 19">
                <a:extLst>
                  <a:ext uri="{FF2B5EF4-FFF2-40B4-BE49-F238E27FC236}">
                    <a16:creationId xmlns:a16="http://schemas.microsoft.com/office/drawing/2014/main" id="{C2BEF17C-E870-5D8A-C9CF-DF089E240CA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053652321"/>
                  </p:ext>
                </p:extLst>
              </p:nvPr>
            </p:nvGraphicFramePr>
            <p:xfrm>
              <a:off x="833396" y="4111761"/>
              <a:ext cx="5188081" cy="246278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20" name="Chart 19">
                <a:extLst>
                  <a:ext uri="{FF2B5EF4-FFF2-40B4-BE49-F238E27FC236}">
                    <a16:creationId xmlns:a16="http://schemas.microsoft.com/office/drawing/2014/main" id="{C2BEF17C-E870-5D8A-C9CF-DF089E240CA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3396" y="4111761"/>
                <a:ext cx="5188081" cy="2462784"/>
              </a:xfrm>
              <a:prstGeom prst="rect">
                <a:avLst/>
              </a:prstGeom>
            </p:spPr>
          </p:pic>
        </mc:Fallback>
      </mc:AlternateContent>
      <p:sp>
        <p:nvSpPr>
          <p:cNvPr id="2" name="Google Shape;99;g3868a5fe0ff_0_109">
            <a:extLst>
              <a:ext uri="{FF2B5EF4-FFF2-40B4-BE49-F238E27FC236}">
                <a16:creationId xmlns:a16="http://schemas.microsoft.com/office/drawing/2014/main" id="{1E740D64-54F7-1179-197A-6D95B721255A}"/>
              </a:ext>
            </a:extLst>
          </p:cNvPr>
          <p:cNvSpPr txBox="1"/>
          <p:nvPr/>
        </p:nvSpPr>
        <p:spPr>
          <a:xfrm>
            <a:off x="551411" y="363777"/>
            <a:ext cx="10979625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[1]</a:t>
            </a:r>
            <a:endParaRPr sz="2400" b="1" i="0" u="none" strike="noStrike" cap="none" dirty="0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Google Shape;100;g3868a5fe0ff_0_109">
            <a:extLst>
              <a:ext uri="{FF2B5EF4-FFF2-40B4-BE49-F238E27FC236}">
                <a16:creationId xmlns:a16="http://schemas.microsoft.com/office/drawing/2014/main" id="{EF943F81-E7A1-E67E-7A3C-4DDA2A3C1193}"/>
              </a:ext>
            </a:extLst>
          </p:cNvPr>
          <p:cNvSpPr txBox="1"/>
          <p:nvPr/>
        </p:nvSpPr>
        <p:spPr>
          <a:xfrm>
            <a:off x="564761" y="726904"/>
            <a:ext cx="10979625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[2]</a:t>
            </a:r>
            <a:endParaRPr sz="15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" name="Google Shape;101;g3868a5fe0ff_0_109">
            <a:extLst>
              <a:ext uri="{FF2B5EF4-FFF2-40B4-BE49-F238E27FC236}">
                <a16:creationId xmlns:a16="http://schemas.microsoft.com/office/drawing/2014/main" id="{E723E542-2AE0-771C-2CC5-CE794C3C47BB}"/>
              </a:ext>
            </a:extLst>
          </p:cNvPr>
          <p:cNvSpPr txBox="1"/>
          <p:nvPr/>
        </p:nvSpPr>
        <p:spPr>
          <a:xfrm>
            <a:off x="6240933" y="4415316"/>
            <a:ext cx="5219547" cy="139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ct val="115000"/>
              <a:buFont typeface="Calibri"/>
              <a:buChar char="⏵"/>
            </a:pPr>
            <a:r>
              <a:rPr lang="en-US" sz="13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[3]</a:t>
            </a:r>
          </a:p>
        </p:txBody>
      </p:sp>
      <p:sp>
        <p:nvSpPr>
          <p:cNvPr id="19" name="Google Shape;105;g3868a5fe0ff_0_109">
            <a:extLst>
              <a:ext uri="{FF2B5EF4-FFF2-40B4-BE49-F238E27FC236}">
                <a16:creationId xmlns:a16="http://schemas.microsoft.com/office/drawing/2014/main" id="{BBE826C1-9AF1-6755-D234-5CFA6E0124FC}"/>
              </a:ext>
            </a:extLst>
          </p:cNvPr>
          <p:cNvSpPr/>
          <p:nvPr/>
        </p:nvSpPr>
        <p:spPr>
          <a:xfrm>
            <a:off x="686787" y="1385346"/>
            <a:ext cx="5287294" cy="258344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NET DEBT TO EBITDA (x)</a:t>
            </a:r>
          </a:p>
        </p:txBody>
      </p:sp>
      <p:sp>
        <p:nvSpPr>
          <p:cNvPr id="22" name="Google Shape;105;g3868a5fe0ff_0_109">
            <a:extLst>
              <a:ext uri="{FF2B5EF4-FFF2-40B4-BE49-F238E27FC236}">
                <a16:creationId xmlns:a16="http://schemas.microsoft.com/office/drawing/2014/main" id="{8BFA7F04-137F-F0D3-4C36-A94FB3B7A6DA}"/>
              </a:ext>
            </a:extLst>
          </p:cNvPr>
          <p:cNvSpPr/>
          <p:nvPr/>
        </p:nvSpPr>
        <p:spPr>
          <a:xfrm>
            <a:off x="6262449" y="1406710"/>
            <a:ext cx="5287294" cy="258344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GEARING (%)</a:t>
            </a:r>
          </a:p>
        </p:txBody>
      </p:sp>
      <p:sp>
        <p:nvSpPr>
          <p:cNvPr id="24" name="Google Shape;105;g3868a5fe0ff_0_109">
            <a:extLst>
              <a:ext uri="{FF2B5EF4-FFF2-40B4-BE49-F238E27FC236}">
                <a16:creationId xmlns:a16="http://schemas.microsoft.com/office/drawing/2014/main" id="{387B2A35-A24C-94D8-9DF3-476D73967399}"/>
              </a:ext>
            </a:extLst>
          </p:cNvPr>
          <p:cNvSpPr/>
          <p:nvPr/>
        </p:nvSpPr>
        <p:spPr>
          <a:xfrm>
            <a:off x="686787" y="4057725"/>
            <a:ext cx="5287294" cy="258344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CHANGES IN NET DEBT IN FY 2025 (USD </a:t>
            </a:r>
            <a:r>
              <a:rPr lang="en-US" sz="1200" b="1" dirty="0" err="1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mn</a:t>
            </a: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)</a:t>
            </a:r>
          </a:p>
        </p:txBody>
      </p:sp>
      <p:sp>
        <p:nvSpPr>
          <p:cNvPr id="25" name="Google Shape;105;g3868a5fe0ff_0_109">
            <a:extLst>
              <a:ext uri="{FF2B5EF4-FFF2-40B4-BE49-F238E27FC236}">
                <a16:creationId xmlns:a16="http://schemas.microsoft.com/office/drawing/2014/main" id="{B8E30028-ADAF-18CD-2E5C-D6F3169003E4}"/>
              </a:ext>
            </a:extLst>
          </p:cNvPr>
          <p:cNvSpPr/>
          <p:nvPr/>
        </p:nvSpPr>
        <p:spPr>
          <a:xfrm>
            <a:off x="6262449" y="4057285"/>
            <a:ext cx="5287294" cy="258344"/>
          </a:xfrm>
          <a:prstGeom prst="parallelogram">
            <a:avLst>
              <a:gd name="adj" fmla="val 25000"/>
            </a:avLst>
          </a:prstGeom>
          <a:gradFill flip="none" rotWithShape="1">
            <a:gsLst>
              <a:gs pos="0">
                <a:srgbClr val="A10B1E"/>
              </a:gs>
              <a:gs pos="29000">
                <a:srgbClr val="B40B1E"/>
              </a:gs>
              <a:gs pos="100000">
                <a:srgbClr val="E00120"/>
              </a:gs>
            </a:gsLst>
            <a:lin ang="162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-US" sz="1200" b="1" dirty="0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COMMENTS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g3868a5fe0ff_0_132"/>
          <p:cNvPicPr preferRelativeResize="0"/>
          <p:nvPr/>
        </p:nvPicPr>
        <p:blipFill rotWithShape="1">
          <a:blip r:embed="rId3">
            <a:alphaModFix/>
          </a:blip>
          <a:srcRect l="42813" t="69223" r="50207" b="22908"/>
          <a:stretch/>
        </p:blipFill>
        <p:spPr>
          <a:xfrm>
            <a:off x="5148650" y="4742475"/>
            <a:ext cx="850799" cy="5376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868a5fe0ff_0_132"/>
          <p:cNvSpPr txBox="1">
            <a:spLocks noGrp="1"/>
          </p:cNvSpPr>
          <p:nvPr>
            <p:ph type="sldNum" idx="12"/>
          </p:nvPr>
        </p:nvSpPr>
        <p:spPr>
          <a:xfrm>
            <a:off x="11195623" y="6254525"/>
            <a:ext cx="524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600" b="1"/>
              <a:t>7</a:t>
            </a:fld>
            <a:endParaRPr sz="1600" b="1"/>
          </a:p>
        </p:txBody>
      </p:sp>
      <p:pic>
        <p:nvPicPr>
          <p:cNvPr id="147" name="Google Shape;147;g3868a5fe0ff_0_132"/>
          <p:cNvPicPr preferRelativeResize="0"/>
          <p:nvPr/>
        </p:nvPicPr>
        <p:blipFill rotWithShape="1">
          <a:blip r:embed="rId4">
            <a:alphaModFix/>
          </a:blip>
          <a:srcRect l="80294" t="91228" r="5909"/>
          <a:stretch/>
        </p:blipFill>
        <p:spPr>
          <a:xfrm>
            <a:off x="9734358" y="6232450"/>
            <a:ext cx="1681825" cy="59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868a5fe0ff_0_132"/>
          <p:cNvSpPr txBox="1"/>
          <p:nvPr/>
        </p:nvSpPr>
        <p:spPr>
          <a:xfrm>
            <a:off x="138517" y="288471"/>
            <a:ext cx="11070600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UPSTREAM: OPERATIONAL UPDATE (1)</a:t>
            </a:r>
            <a:endParaRPr sz="2400" b="1" i="0" u="none" strike="noStrike" cap="none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g3868a5fe0ff_0_132"/>
          <p:cNvSpPr txBox="1"/>
          <p:nvPr/>
        </p:nvSpPr>
        <p:spPr>
          <a:xfrm>
            <a:off x="181035" y="1005021"/>
            <a:ext cx="1278600" cy="4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Hungary</a:t>
            </a:r>
            <a:endParaRPr sz="1800" b="1" i="0" u="none" strike="noStrike" cap="none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0" name="Google Shape;150;g3868a5fe0ff_0_132"/>
          <p:cNvSpPr txBox="1"/>
          <p:nvPr/>
        </p:nvSpPr>
        <p:spPr>
          <a:xfrm>
            <a:off x="6122552" y="995617"/>
            <a:ext cx="1278600" cy="4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Croatia</a:t>
            </a:r>
            <a:endParaRPr sz="1800" b="1" i="0" u="none" strike="noStrike" cap="none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" name="Google Shape;151;g3868a5fe0ff_0_132"/>
          <p:cNvSpPr txBox="1"/>
          <p:nvPr/>
        </p:nvSpPr>
        <p:spPr>
          <a:xfrm>
            <a:off x="232618" y="4840784"/>
            <a:ext cx="1409700" cy="4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Azerbaijan</a:t>
            </a:r>
            <a:endParaRPr sz="1800" b="1" i="0" u="none" strike="noStrike" cap="none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" name="Google Shape;152;g3868a5fe0ff_0_132"/>
          <p:cNvSpPr txBox="1"/>
          <p:nvPr/>
        </p:nvSpPr>
        <p:spPr>
          <a:xfrm>
            <a:off x="6114548" y="4465978"/>
            <a:ext cx="1278600" cy="4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E3001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Egypt</a:t>
            </a:r>
            <a:endParaRPr sz="1800" b="1" i="0" u="none" strike="noStrike" cap="none">
              <a:solidFill>
                <a:srgbClr val="E3001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868a5fe0ff_0_132"/>
          <p:cNvSpPr txBox="1"/>
          <p:nvPr/>
        </p:nvSpPr>
        <p:spPr>
          <a:xfrm>
            <a:off x="344275" y="1604275"/>
            <a:ext cx="5655300" cy="9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868a5fe0ff_0_132"/>
          <p:cNvSpPr txBox="1"/>
          <p:nvPr/>
        </p:nvSpPr>
        <p:spPr>
          <a:xfrm>
            <a:off x="344275" y="2663075"/>
            <a:ext cx="56553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868a5fe0ff_0_132"/>
          <p:cNvSpPr txBox="1"/>
          <p:nvPr/>
        </p:nvSpPr>
        <p:spPr>
          <a:xfrm>
            <a:off x="344275" y="3301975"/>
            <a:ext cx="5655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[3]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868a5fe0ff_0_132"/>
          <p:cNvSpPr txBox="1"/>
          <p:nvPr/>
        </p:nvSpPr>
        <p:spPr>
          <a:xfrm>
            <a:off x="344275" y="3763250"/>
            <a:ext cx="5655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[4]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868a5fe0ff_0_132"/>
          <p:cNvSpPr txBox="1"/>
          <p:nvPr/>
        </p:nvSpPr>
        <p:spPr>
          <a:xfrm>
            <a:off x="344275" y="5280075"/>
            <a:ext cx="5655300" cy="13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[9]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868a5fe0ff_0_132"/>
          <p:cNvSpPr txBox="1"/>
          <p:nvPr/>
        </p:nvSpPr>
        <p:spPr>
          <a:xfrm>
            <a:off x="6240750" y="4857200"/>
            <a:ext cx="5729700" cy="17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[10]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868a5fe0ff_0_132"/>
          <p:cNvSpPr txBox="1"/>
          <p:nvPr/>
        </p:nvSpPr>
        <p:spPr>
          <a:xfrm>
            <a:off x="228554" y="1421113"/>
            <a:ext cx="13641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EXPLORATION</a:t>
            </a:r>
            <a:endParaRPr sz="11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0" name="Google Shape;160;g3868a5fe0ff_0_132"/>
          <p:cNvSpPr txBox="1"/>
          <p:nvPr/>
        </p:nvSpPr>
        <p:spPr>
          <a:xfrm>
            <a:off x="228550" y="2480475"/>
            <a:ext cx="17121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FIELD DEVELOPMENT</a:t>
            </a:r>
            <a:endParaRPr sz="11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g3868a5fe0ff_0_132"/>
          <p:cNvSpPr txBox="1"/>
          <p:nvPr/>
        </p:nvSpPr>
        <p:spPr>
          <a:xfrm>
            <a:off x="228550" y="3127000"/>
            <a:ext cx="23397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PRODUCTION OPTIMIZATION</a:t>
            </a:r>
            <a:endParaRPr sz="11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2" name="Google Shape;162;g3868a5fe0ff_0_132"/>
          <p:cNvSpPr txBox="1"/>
          <p:nvPr/>
        </p:nvSpPr>
        <p:spPr>
          <a:xfrm>
            <a:off x="228550" y="3581725"/>
            <a:ext cx="8508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OTHER</a:t>
            </a:r>
            <a:endParaRPr sz="11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3" name="Google Shape;163;g3868a5fe0ff_0_132"/>
          <p:cNvSpPr txBox="1"/>
          <p:nvPr/>
        </p:nvSpPr>
        <p:spPr>
          <a:xfrm>
            <a:off x="6192900" y="1604275"/>
            <a:ext cx="5729700" cy="5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[5]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868a5fe0ff_0_132"/>
          <p:cNvSpPr txBox="1"/>
          <p:nvPr/>
        </p:nvSpPr>
        <p:spPr>
          <a:xfrm>
            <a:off x="6192900" y="2241500"/>
            <a:ext cx="5729700" cy="11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[6]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868a5fe0ff_0_132"/>
          <p:cNvSpPr txBox="1"/>
          <p:nvPr/>
        </p:nvSpPr>
        <p:spPr>
          <a:xfrm>
            <a:off x="6192900" y="3476775"/>
            <a:ext cx="5655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[7]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868a5fe0ff_0_132"/>
          <p:cNvSpPr txBox="1"/>
          <p:nvPr/>
        </p:nvSpPr>
        <p:spPr>
          <a:xfrm>
            <a:off x="6192900" y="3938050"/>
            <a:ext cx="5655300" cy="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" marR="0" lvl="0" indent="-914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019"/>
              </a:buClr>
              <a:buSzPts val="1300"/>
              <a:buFont typeface="Calibri"/>
              <a:buChar char="⏵"/>
            </a:pPr>
            <a:r>
              <a:rPr lang="en-US" sz="13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[8]</a:t>
            </a:r>
            <a:endParaRPr sz="1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868a5fe0ff_0_132"/>
          <p:cNvSpPr txBox="1"/>
          <p:nvPr/>
        </p:nvSpPr>
        <p:spPr>
          <a:xfrm>
            <a:off x="6077179" y="1421113"/>
            <a:ext cx="13641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EXPLORATION</a:t>
            </a:r>
            <a:endParaRPr sz="11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8" name="Google Shape;168;g3868a5fe0ff_0_132"/>
          <p:cNvSpPr txBox="1"/>
          <p:nvPr/>
        </p:nvSpPr>
        <p:spPr>
          <a:xfrm>
            <a:off x="6077175" y="2058900"/>
            <a:ext cx="33372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FIELD DEVELOPMENT AND PRODUCTION</a:t>
            </a:r>
            <a:endParaRPr sz="11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Google Shape;169;g3868a5fe0ff_0_132"/>
          <p:cNvSpPr txBox="1"/>
          <p:nvPr/>
        </p:nvSpPr>
        <p:spPr>
          <a:xfrm>
            <a:off x="6077175" y="3301803"/>
            <a:ext cx="23397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PRODUCTION OPTIMIZATION</a:t>
            </a:r>
            <a:endParaRPr sz="11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0" name="Google Shape;170;g3868a5fe0ff_0_132"/>
          <p:cNvSpPr txBox="1"/>
          <p:nvPr/>
        </p:nvSpPr>
        <p:spPr>
          <a:xfrm>
            <a:off x="6077175" y="3756525"/>
            <a:ext cx="12288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GEOTHERMAL</a:t>
            </a:r>
            <a:endParaRPr sz="11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1" name="Google Shape;171;g3868a5fe0ff_0_132"/>
          <p:cNvPicPr preferRelativeResize="0"/>
          <p:nvPr/>
        </p:nvPicPr>
        <p:blipFill rotWithShape="1">
          <a:blip r:embed="rId3">
            <a:alphaModFix/>
          </a:blip>
          <a:srcRect l="91393" t="65176" r="1626" b="27934"/>
          <a:stretch/>
        </p:blipFill>
        <p:spPr>
          <a:xfrm>
            <a:off x="11071650" y="4465975"/>
            <a:ext cx="850799" cy="47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868a5fe0ff_0_132"/>
          <p:cNvPicPr preferRelativeResize="0"/>
          <p:nvPr/>
        </p:nvPicPr>
        <p:blipFill rotWithShape="1">
          <a:blip r:embed="rId3">
            <a:alphaModFix/>
          </a:blip>
          <a:srcRect l="42813" t="13007" r="49264" b="78219"/>
          <a:stretch/>
        </p:blipFill>
        <p:spPr>
          <a:xfrm>
            <a:off x="5148650" y="901025"/>
            <a:ext cx="965900" cy="599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868a5fe0ff_0_132"/>
          <p:cNvPicPr preferRelativeResize="0"/>
          <p:nvPr/>
        </p:nvPicPr>
        <p:blipFill rotWithShape="1">
          <a:blip r:embed="rId3">
            <a:alphaModFix/>
          </a:blip>
          <a:srcRect l="91393" t="13007" r="1626" b="78219"/>
          <a:stretch/>
        </p:blipFill>
        <p:spPr>
          <a:xfrm>
            <a:off x="11071650" y="901025"/>
            <a:ext cx="850799" cy="59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259</Words>
  <Application>Microsoft Macintosh PowerPoint</Application>
  <PresentationFormat>Widescreen</PresentationFormat>
  <Paragraphs>93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Helvetica Neue</vt:lpstr>
      <vt:lpstr>Arial</vt:lpstr>
      <vt:lpstr>Office Theme 2013 - 2022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Tagscherer Ármin</dc:creator>
  <cp:lastModifiedBy>Örs Csák</cp:lastModifiedBy>
  <cp:revision>31</cp:revision>
  <dcterms:created xsi:type="dcterms:W3CDTF">2024-06-17T17:09:36Z</dcterms:created>
  <dcterms:modified xsi:type="dcterms:W3CDTF">2026-03-01T18:57:37Z</dcterms:modified>
</cp:coreProperties>
</file>