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Ex1.xml" ContentType="application/vnd.ms-office.chartex+xml"/>
  <Override PartName="/ppt/charts/style1.xml" ContentType="application/vnd.ms-office.chartstyle+xml"/>
  <Override PartName="/ppt/charts/colors1.xml" ContentType="application/vnd.ms-office.chartcolorstyl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2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3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4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5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5.xml" ContentType="application/vnd.openxmlformats-officedocument.presentationml.notesSlide+xml"/>
  <Override PartName="/ppt/charts/chartEx2.xml" ContentType="application/vnd.ms-office.chartex+xml"/>
  <Override PartName="/ppt/charts/style7.xml" ContentType="application/vnd.ms-office.chartstyle+xml"/>
  <Override PartName="/ppt/charts/colors7.xml" ContentType="application/vnd.ms-office.chartcolorstyle+xml"/>
  <Override PartName="/ppt/notesSlides/notesSlide6.xml" ContentType="application/vnd.openxmlformats-officedocument.presentationml.notes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Ex3.xml" ContentType="application/vnd.ms-office.chartex+xml"/>
  <Override PartName="/ppt/charts/style8.xml" ContentType="application/vnd.ms-office.chartstyle+xml"/>
  <Override PartName="/ppt/charts/colors8.xml" ContentType="application/vnd.ms-office.chartcolorstyl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65" r:id="rId4"/>
    <p:sldId id="261" r:id="rId5"/>
    <p:sldId id="266" r:id="rId6"/>
    <p:sldId id="264" r:id="rId7"/>
    <p:sldId id="259" r:id="rId8"/>
  </p:sldIdLst>
  <p:sldSz cx="12192000" cy="6858000"/>
  <p:notesSz cx="6858000" cy="9144000"/>
  <p:embeddedFontLst>
    <p:embeddedFont>
      <p:font typeface="Helvetica Neue" panose="020B0604020202020204" charset="0"/>
      <p:regular r:id="rId10"/>
      <p:bold r:id="rId11"/>
      <p:italic r:id="rId12"/>
      <p:boldItalic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8" roundtripDataSignature="AMtx7mhZSYr+vVZ+KJ4E1GAgIhBUKXCz3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00120"/>
    <a:srgbClr val="99001E"/>
    <a:srgbClr val="000000"/>
    <a:srgbClr val="6E6E6E"/>
    <a:srgbClr val="E001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129"/>
    <p:restoredTop sz="90335"/>
  </p:normalViewPr>
  <p:slideViewPr>
    <p:cSldViewPr snapToGrid="0">
      <p:cViewPr varScale="1">
        <p:scale>
          <a:sx n="92" d="100"/>
          <a:sy n="92" d="100"/>
        </p:scale>
        <p:origin x="84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customschemas.google.com/relationships/presentationmetadata" Target="meta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2" Type="http://schemas.openxmlformats.org/officeDocument/2006/relationships/slide" Target="slides/slide1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0" Type="http://schemas.openxmlformats.org/officeDocument/2006/relationships/font" Target="fonts/font1.fntdata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Ex1.xml.rels><?xml version="1.0" encoding="UTF-8" standalone="yes"?>
<Relationships xmlns="http://schemas.openxmlformats.org/package/2006/relationships"><Relationship Id="rId3" Type="http://schemas.microsoft.com/office/2011/relationships/chartColorStyle" Target="colors1.xml"/><Relationship Id="rId2" Type="http://schemas.microsoft.com/office/2011/relationships/chartStyle" Target="style1.xml"/><Relationship Id="rId1" Type="http://schemas.openxmlformats.org/officeDocument/2006/relationships/package" Target="../embeddings/Microsoft_Excel_Worksheet.xlsx"/></Relationships>
</file>

<file path=ppt/charts/_rels/chartEx2.xml.rels><?xml version="1.0" encoding="UTF-8" standalone="yes"?>
<Relationships xmlns="http://schemas.openxmlformats.org/package/2006/relationships"><Relationship Id="rId3" Type="http://schemas.microsoft.com/office/2011/relationships/chartColorStyle" Target="colors7.xml"/><Relationship Id="rId2" Type="http://schemas.microsoft.com/office/2011/relationships/chartStyle" Target="style7.xml"/><Relationship Id="rId1" Type="http://schemas.openxmlformats.org/officeDocument/2006/relationships/package" Target="../embeddings/Microsoft_Excel_Worksheet6.xlsx"/></Relationships>
</file>

<file path=ppt/charts/_rels/chartEx3.xml.rels><?xml version="1.0" encoding="UTF-8" standalone="yes"?>
<Relationships xmlns="http://schemas.openxmlformats.org/package/2006/relationships"><Relationship Id="rId3" Type="http://schemas.microsoft.com/office/2011/relationships/chartColorStyle" Target="colors8.xml"/><Relationship Id="rId2" Type="http://schemas.microsoft.com/office/2011/relationships/chartStyle" Target="style8.xml"/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u-H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1043977091740444E-2"/>
          <c:y val="0.22002044284429578"/>
          <c:w val="0.95791204581651912"/>
          <c:h val="0.4347144065354103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bg1"/>
              </a:solidFill>
              <a:ln w="15875">
                <a:solidFill>
                  <a:schemeClr val="tx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5AD-3A46-AC49-8D9B3221D2C9}"/>
              </c:ext>
            </c:extLst>
          </c:dPt>
          <c:dPt>
            <c:idx val="1"/>
            <c:invertIfNegative val="0"/>
            <c:bubble3D val="0"/>
            <c:spPr>
              <a:solidFill>
                <a:srgbClr val="E0012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05AD-3A46-AC49-8D9B3221D2C9}"/>
              </c:ext>
            </c:extLst>
          </c:dPt>
          <c:dPt>
            <c:idx val="2"/>
            <c:invertIfNegative val="0"/>
            <c:bubble3D val="0"/>
            <c:spPr>
              <a:solidFill>
                <a:srgbClr val="99001E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05AD-3A46-AC49-8D9B3221D2C9}"/>
              </c:ext>
            </c:extLst>
          </c:dPt>
          <c:dLbls>
            <c:dLbl>
              <c:idx val="0"/>
              <c:spPr>
                <a:solidFill>
                  <a:schemeClr val="lt1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1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1-05AD-3A46-AC49-8D9B3221D2C9}"/>
                </c:ext>
              </c:extLst>
            </c:dLbl>
            <c:dLbl>
              <c:idx val="1"/>
              <c:spPr>
                <a:solidFill>
                  <a:srgbClr val="E00120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05AD-3A46-AC49-8D9B3221D2C9}"/>
                </c:ext>
              </c:extLst>
            </c:dLbl>
            <c:dLbl>
              <c:idx val="2"/>
              <c:spPr>
                <a:solidFill>
                  <a:srgbClr val="99001E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5-05AD-3A46-AC49-8D9B3221D2C9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7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H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Q4 2024</c:v>
                </c:pt>
                <c:pt idx="1">
                  <c:v>Q3 2025</c:v>
                </c:pt>
                <c:pt idx="2">
                  <c:v>Q4 2025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05AD-3A46-AC49-8D9B3221D2C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5"/>
        <c:overlap val="100"/>
        <c:axId val="1404788159"/>
        <c:axId val="1404789951"/>
      </c:barChart>
      <c:catAx>
        <c:axId val="140478815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1587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0"/>
          <a:lstStyle/>
          <a:p>
            <a:pPr>
              <a:defRPr sz="8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HU"/>
          </a:p>
        </c:txPr>
        <c:crossAx val="1404789951"/>
        <c:crosses val="autoZero"/>
        <c:auto val="1"/>
        <c:lblAlgn val="ctr"/>
        <c:lblOffset val="100"/>
        <c:noMultiLvlLbl val="0"/>
      </c:catAx>
      <c:valAx>
        <c:axId val="140478995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40478815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H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u-H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1043977091740444E-2"/>
          <c:y val="0.22002044284429578"/>
          <c:w val="0.95791204581651912"/>
          <c:h val="0.4347144065354103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bg1"/>
              </a:solidFill>
              <a:ln w="15875">
                <a:solidFill>
                  <a:schemeClr val="tx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9339-3947-A15E-00F78FA941BD}"/>
              </c:ext>
            </c:extLst>
          </c:dPt>
          <c:dPt>
            <c:idx val="1"/>
            <c:invertIfNegative val="0"/>
            <c:bubble3D val="0"/>
            <c:spPr>
              <a:solidFill>
                <a:srgbClr val="E0012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9339-3947-A15E-00F78FA941BD}"/>
              </c:ext>
            </c:extLst>
          </c:dPt>
          <c:dPt>
            <c:idx val="2"/>
            <c:invertIfNegative val="0"/>
            <c:bubble3D val="0"/>
            <c:spPr>
              <a:solidFill>
                <a:srgbClr val="99001E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9339-3947-A15E-00F78FA941BD}"/>
              </c:ext>
            </c:extLst>
          </c:dPt>
          <c:dLbls>
            <c:dLbl>
              <c:idx val="0"/>
              <c:spPr>
                <a:solidFill>
                  <a:schemeClr val="lt1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1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1-9339-3947-A15E-00F78FA941BD}"/>
                </c:ext>
              </c:extLst>
            </c:dLbl>
            <c:dLbl>
              <c:idx val="1"/>
              <c:spPr>
                <a:solidFill>
                  <a:srgbClr val="E00120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9339-3947-A15E-00F78FA941BD}"/>
                </c:ext>
              </c:extLst>
            </c:dLbl>
            <c:dLbl>
              <c:idx val="2"/>
              <c:spPr>
                <a:solidFill>
                  <a:srgbClr val="99001E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5-9339-3947-A15E-00F78FA941B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7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H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Q4 2024</c:v>
                </c:pt>
                <c:pt idx="1">
                  <c:v>Q3 2025</c:v>
                </c:pt>
                <c:pt idx="2">
                  <c:v>Q4 2025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339-3947-A15E-00F78FA941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5"/>
        <c:overlap val="100"/>
        <c:axId val="1404788159"/>
        <c:axId val="1404789951"/>
      </c:barChart>
      <c:catAx>
        <c:axId val="140478815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1587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0"/>
          <a:lstStyle/>
          <a:p>
            <a:pPr>
              <a:defRPr sz="8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HU"/>
          </a:p>
        </c:txPr>
        <c:crossAx val="1404789951"/>
        <c:crosses val="autoZero"/>
        <c:auto val="1"/>
        <c:lblAlgn val="ctr"/>
        <c:lblOffset val="100"/>
        <c:noMultiLvlLbl val="0"/>
      </c:catAx>
      <c:valAx>
        <c:axId val="140478995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40478815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H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u-H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1043977091740444E-2"/>
          <c:y val="0.22002044284429578"/>
          <c:w val="0.95791204581651912"/>
          <c:h val="0.4347144065354103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bg1"/>
              </a:solidFill>
              <a:ln w="15875">
                <a:solidFill>
                  <a:schemeClr val="tx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9DAB-D24E-BED4-23E216F191C0}"/>
              </c:ext>
            </c:extLst>
          </c:dPt>
          <c:dPt>
            <c:idx val="1"/>
            <c:invertIfNegative val="0"/>
            <c:bubble3D val="0"/>
            <c:spPr>
              <a:solidFill>
                <a:srgbClr val="E0012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9DAB-D24E-BED4-23E216F191C0}"/>
              </c:ext>
            </c:extLst>
          </c:dPt>
          <c:dPt>
            <c:idx val="2"/>
            <c:invertIfNegative val="0"/>
            <c:bubble3D val="0"/>
            <c:spPr>
              <a:solidFill>
                <a:srgbClr val="99001E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9DAB-D24E-BED4-23E216F191C0}"/>
              </c:ext>
            </c:extLst>
          </c:dPt>
          <c:dLbls>
            <c:dLbl>
              <c:idx val="0"/>
              <c:spPr>
                <a:solidFill>
                  <a:schemeClr val="lt1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1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1-9DAB-D24E-BED4-23E216F191C0}"/>
                </c:ext>
              </c:extLst>
            </c:dLbl>
            <c:dLbl>
              <c:idx val="1"/>
              <c:spPr>
                <a:solidFill>
                  <a:srgbClr val="E00120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9DAB-D24E-BED4-23E216F191C0}"/>
                </c:ext>
              </c:extLst>
            </c:dLbl>
            <c:dLbl>
              <c:idx val="2"/>
              <c:spPr>
                <a:solidFill>
                  <a:srgbClr val="99001E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5-9DAB-D24E-BED4-23E216F191C0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7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H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Q4 2024</c:v>
                </c:pt>
                <c:pt idx="1">
                  <c:v>Q3 2025</c:v>
                </c:pt>
                <c:pt idx="2">
                  <c:v>Q4 2025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AB-D24E-BED4-23E216F191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5"/>
        <c:overlap val="100"/>
        <c:axId val="1404788159"/>
        <c:axId val="1404789951"/>
      </c:barChart>
      <c:catAx>
        <c:axId val="140478815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1587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0"/>
          <a:lstStyle/>
          <a:p>
            <a:pPr>
              <a:defRPr sz="8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HU"/>
          </a:p>
        </c:txPr>
        <c:crossAx val="1404789951"/>
        <c:crosses val="autoZero"/>
        <c:auto val="1"/>
        <c:lblAlgn val="ctr"/>
        <c:lblOffset val="100"/>
        <c:noMultiLvlLbl val="0"/>
      </c:catAx>
      <c:valAx>
        <c:axId val="140478995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40478815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HU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u-H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1043977091740444E-2"/>
          <c:y val="0.22002044284429578"/>
          <c:w val="0.95791204581651912"/>
          <c:h val="0.4347144065354103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bg1"/>
              </a:solidFill>
              <a:ln w="15875">
                <a:solidFill>
                  <a:schemeClr val="tx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ED5-CE45-A284-9FE284AF65F6}"/>
              </c:ext>
            </c:extLst>
          </c:dPt>
          <c:dPt>
            <c:idx val="1"/>
            <c:invertIfNegative val="0"/>
            <c:bubble3D val="0"/>
            <c:spPr>
              <a:solidFill>
                <a:srgbClr val="E0012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CED5-CE45-A284-9FE284AF65F6}"/>
              </c:ext>
            </c:extLst>
          </c:dPt>
          <c:dPt>
            <c:idx val="2"/>
            <c:invertIfNegative val="0"/>
            <c:bubble3D val="0"/>
            <c:spPr>
              <a:solidFill>
                <a:srgbClr val="99001E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CED5-CE45-A284-9FE284AF65F6}"/>
              </c:ext>
            </c:extLst>
          </c:dPt>
          <c:dLbls>
            <c:dLbl>
              <c:idx val="0"/>
              <c:spPr>
                <a:solidFill>
                  <a:schemeClr val="lt1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1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1-CED5-CE45-A284-9FE284AF65F6}"/>
                </c:ext>
              </c:extLst>
            </c:dLbl>
            <c:dLbl>
              <c:idx val="1"/>
              <c:spPr>
                <a:solidFill>
                  <a:srgbClr val="E00120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CED5-CE45-A284-9FE284AF65F6}"/>
                </c:ext>
              </c:extLst>
            </c:dLbl>
            <c:dLbl>
              <c:idx val="2"/>
              <c:spPr>
                <a:solidFill>
                  <a:srgbClr val="99001E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5-CED5-CE45-A284-9FE284AF65F6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7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H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Q4 2024</c:v>
                </c:pt>
                <c:pt idx="1">
                  <c:v>Q3 2025</c:v>
                </c:pt>
                <c:pt idx="2">
                  <c:v>Q4 2025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ED5-CE45-A284-9FE284AF65F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5"/>
        <c:overlap val="100"/>
        <c:axId val="1404788159"/>
        <c:axId val="1404789951"/>
      </c:barChart>
      <c:catAx>
        <c:axId val="140478815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1587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0"/>
          <a:lstStyle/>
          <a:p>
            <a:pPr>
              <a:defRPr sz="8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HU"/>
          </a:p>
        </c:txPr>
        <c:crossAx val="1404789951"/>
        <c:crosses val="autoZero"/>
        <c:auto val="1"/>
        <c:lblAlgn val="ctr"/>
        <c:lblOffset val="100"/>
        <c:noMultiLvlLbl val="0"/>
      </c:catAx>
      <c:valAx>
        <c:axId val="140478995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40478815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HU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u-H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1043977091740444E-2"/>
          <c:y val="0.22002044284429578"/>
          <c:w val="0.95791204581651912"/>
          <c:h val="0.4347144065354103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bg1"/>
              </a:solidFill>
              <a:ln w="15875">
                <a:solidFill>
                  <a:schemeClr val="tx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70B6-3B4B-8524-0AB6665CD5A0}"/>
              </c:ext>
            </c:extLst>
          </c:dPt>
          <c:dPt>
            <c:idx val="1"/>
            <c:invertIfNegative val="0"/>
            <c:bubble3D val="0"/>
            <c:spPr>
              <a:solidFill>
                <a:srgbClr val="E0012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70B6-3B4B-8524-0AB6665CD5A0}"/>
              </c:ext>
            </c:extLst>
          </c:dPt>
          <c:dPt>
            <c:idx val="2"/>
            <c:invertIfNegative val="0"/>
            <c:bubble3D val="0"/>
            <c:spPr>
              <a:solidFill>
                <a:srgbClr val="99001E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70B6-3B4B-8524-0AB6665CD5A0}"/>
              </c:ext>
            </c:extLst>
          </c:dPt>
          <c:dLbls>
            <c:dLbl>
              <c:idx val="0"/>
              <c:spPr>
                <a:solidFill>
                  <a:schemeClr val="lt1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1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1-70B6-3B4B-8524-0AB6665CD5A0}"/>
                </c:ext>
              </c:extLst>
            </c:dLbl>
            <c:dLbl>
              <c:idx val="1"/>
              <c:spPr>
                <a:solidFill>
                  <a:srgbClr val="E00120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70B6-3B4B-8524-0AB6665CD5A0}"/>
                </c:ext>
              </c:extLst>
            </c:dLbl>
            <c:dLbl>
              <c:idx val="2"/>
              <c:spPr>
                <a:solidFill>
                  <a:srgbClr val="99001E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5-70B6-3B4B-8524-0AB6665CD5A0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7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H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Q4 2024</c:v>
                </c:pt>
                <c:pt idx="1">
                  <c:v>Q3 2025</c:v>
                </c:pt>
                <c:pt idx="2">
                  <c:v>Q4 2025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70B6-3B4B-8524-0AB6665CD5A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5"/>
        <c:overlap val="100"/>
        <c:axId val="1404788159"/>
        <c:axId val="1404789951"/>
      </c:barChart>
      <c:catAx>
        <c:axId val="140478815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1587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0"/>
          <a:lstStyle/>
          <a:p>
            <a:pPr>
              <a:defRPr sz="8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HU"/>
          </a:p>
        </c:txPr>
        <c:crossAx val="1404789951"/>
        <c:crosses val="autoZero"/>
        <c:auto val="1"/>
        <c:lblAlgn val="ctr"/>
        <c:lblOffset val="100"/>
        <c:noMultiLvlLbl val="0"/>
      </c:catAx>
      <c:valAx>
        <c:axId val="140478995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40478815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HU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u-HU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Historical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tIns="0" bIns="0"/>
              <a:lstStyle/>
              <a:p>
                <a:pPr>
                  <a:defRPr sz="900" b="0" i="0" u="none" strike="noStrike">
                    <a:solidFill>
                      <a:srgbClr val="333333"/>
                    </a:solidFill>
                    <a:latin typeface="Arial"/>
                  </a:defRPr>
                </a:pPr>
                <a:endParaRPr lang="en-H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Ref>
              <c:f>Sheet1!$A$2:$A$15</c:f>
              <c:strCache>
                <c:ptCount val="14"/>
                <c:pt idx="0">
                  <c:v>2014</c:v>
                </c:pt>
                <c:pt idx="1">
                  <c:v>2015</c:v>
                </c:pt>
                <c:pt idx="2">
                  <c:v>2016</c:v>
                </c:pt>
                <c:pt idx="3">
                  <c:v>2017</c:v>
                </c:pt>
                <c:pt idx="4">
                  <c:v>2018</c:v>
                </c:pt>
                <c:pt idx="5">
                  <c:v>2019</c:v>
                </c:pt>
                <c:pt idx="6">
                  <c:v>2020</c:v>
                </c:pt>
                <c:pt idx="7">
                  <c:v>2021</c:v>
                </c:pt>
                <c:pt idx="8">
                  <c:v>2022</c:v>
                </c:pt>
                <c:pt idx="9">
                  <c:v>2023</c:v>
                </c:pt>
                <c:pt idx="10">
                  <c:v>2024</c:v>
                </c:pt>
                <c:pt idx="11">
                  <c:v>Q1 2025</c:v>
                </c:pt>
                <c:pt idx="12">
                  <c:v>Q2 2025</c:v>
                </c:pt>
                <c:pt idx="13">
                  <c:v>Q3 2025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EB7-A44E-A45A-7EBD2DC25D4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B1323"/>
            </a:solidFill>
            <a:effectLst/>
          </c:spPr>
          <c:invertIfNegative val="0"/>
          <c:dPt>
            <c:idx val="11"/>
            <c:invertIfNegative val="0"/>
            <c:bubble3D val="0"/>
            <c:spPr>
              <a:solidFill>
                <a:srgbClr val="C8102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2-3EB7-A44E-A45A-7EBD2DC25D44}"/>
              </c:ext>
            </c:extLst>
          </c:dPt>
          <c:dPt>
            <c:idx val="12"/>
            <c:invertIfNegative val="0"/>
            <c:bubble3D val="0"/>
            <c:spPr>
              <a:solidFill>
                <a:srgbClr val="C8102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4-3EB7-A44E-A45A-7EBD2DC25D44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550" b="0" i="0" u="none" strike="noStrike">
                    <a:solidFill>
                      <a:srgbClr val="333333"/>
                    </a:solidFill>
                    <a:latin typeface="Arial"/>
                  </a:defRPr>
                </a:pPr>
                <a:endParaRPr lang="en-H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Sheet1!$A$2:$A$15</c:f>
              <c:strCache>
                <c:ptCount val="14"/>
                <c:pt idx="0">
                  <c:v>2014</c:v>
                </c:pt>
                <c:pt idx="1">
                  <c:v>2015</c:v>
                </c:pt>
                <c:pt idx="2">
                  <c:v>2016</c:v>
                </c:pt>
                <c:pt idx="3">
                  <c:v>2017</c:v>
                </c:pt>
                <c:pt idx="4">
                  <c:v>2018</c:v>
                </c:pt>
                <c:pt idx="5">
                  <c:v>2019</c:v>
                </c:pt>
                <c:pt idx="6">
                  <c:v>2020</c:v>
                </c:pt>
                <c:pt idx="7">
                  <c:v>2021</c:v>
                </c:pt>
                <c:pt idx="8">
                  <c:v>2022</c:v>
                </c:pt>
                <c:pt idx="9">
                  <c:v>2023</c:v>
                </c:pt>
                <c:pt idx="10">
                  <c:v>2024</c:v>
                </c:pt>
                <c:pt idx="11">
                  <c:v>Q1 2025</c:v>
                </c:pt>
                <c:pt idx="12">
                  <c:v>Q2 2025</c:v>
                </c:pt>
                <c:pt idx="13">
                  <c:v>Q3 2025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11">
                  <c:v>0</c:v>
                </c:pt>
                <c:pt idx="12">
                  <c:v>0</c:v>
                </c:pt>
                <c:pt idx="1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EB7-A44E-A45A-7EBD2DC25D4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81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tx1"/>
            </a:solidFill>
            <a:prstDash val="solid"/>
            <a:round/>
          </a:ln>
        </c:spPr>
        <c:txPr>
          <a:bodyPr/>
          <a:lstStyle/>
          <a:p>
            <a:pPr>
              <a:defRPr sz="500" b="0" i="0" u="none" strike="noStrike">
                <a:solidFill>
                  <a:schemeClr val="tx1"/>
                </a:solidFill>
                <a:latin typeface="Arial"/>
              </a:defRPr>
            </a:pPr>
            <a:endParaRPr lang="en-H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"/>
          <c:min val="0"/>
        </c:scaling>
        <c:delete val="0"/>
        <c:axPos val="l"/>
        <c:numFmt formatCode="#,##0.0" sourceLinked="0"/>
        <c:majorTickMark val="out"/>
        <c:minorTickMark val="none"/>
        <c:tickLblPos val="nextTo"/>
        <c:spPr>
          <a:ln w="12700" cap="flat">
            <a:solidFill>
              <a:schemeClr val="tx1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chemeClr val="tx1"/>
                </a:solidFill>
                <a:latin typeface="Arial"/>
              </a:defRPr>
            </a:pPr>
            <a:endParaRPr lang="en-HU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solidFill>
        <a:schemeClr val="tx1">
          <a:alpha val="0"/>
        </a:schemeClr>
      </a:solidFill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u-HU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5.6574317099251474E-2"/>
          <c:y val="6.4287678767876777E-2"/>
          <c:w val="0.90947506561679792"/>
          <c:h val="0.7613102353542441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Historical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chemeClr val="tx1"/>
                    </a:solidFill>
                    <a:latin typeface="Arial"/>
                  </a:defRPr>
                </a:pPr>
                <a:endParaRPr lang="en-H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Sheet1!$A$2:$A$15</c:f>
              <c:strCache>
                <c:ptCount val="14"/>
                <c:pt idx="0">
                  <c:v>2014</c:v>
                </c:pt>
                <c:pt idx="1">
                  <c:v>2015</c:v>
                </c:pt>
                <c:pt idx="2">
                  <c:v>2016</c:v>
                </c:pt>
                <c:pt idx="3">
                  <c:v>2017</c:v>
                </c:pt>
                <c:pt idx="4">
                  <c:v>2018</c:v>
                </c:pt>
                <c:pt idx="5">
                  <c:v>2019</c:v>
                </c:pt>
                <c:pt idx="6">
                  <c:v>2020</c:v>
                </c:pt>
                <c:pt idx="7">
                  <c:v>2021</c:v>
                </c:pt>
                <c:pt idx="8">
                  <c:v>2022</c:v>
                </c:pt>
                <c:pt idx="9">
                  <c:v>2023</c:v>
                </c:pt>
                <c:pt idx="10">
                  <c:v>2024</c:v>
                </c:pt>
                <c:pt idx="11">
                  <c:v>Q1 2025</c:v>
                </c:pt>
                <c:pt idx="12">
                  <c:v>Q2 2025</c:v>
                </c:pt>
                <c:pt idx="13">
                  <c:v>Q3 2025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1F-054D-BB59-7A8A7C19C61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B1323"/>
            </a:solidFill>
            <a:effectLst/>
          </c:spPr>
          <c:invertIfNegative val="0"/>
          <c:dPt>
            <c:idx val="11"/>
            <c:invertIfNegative val="0"/>
            <c:bubble3D val="0"/>
            <c:spPr>
              <a:solidFill>
                <a:srgbClr val="C3102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B81F-054D-BB59-7A8A7C19C61E}"/>
              </c:ext>
            </c:extLst>
          </c:dPt>
          <c:dPt>
            <c:idx val="12"/>
            <c:invertIfNegative val="0"/>
            <c:bubble3D val="0"/>
            <c:spPr>
              <a:solidFill>
                <a:srgbClr val="C3102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2-B81F-054D-BB59-7A8A7C19C61E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550" b="0" i="0" u="none" strike="noStrike">
                    <a:solidFill>
                      <a:srgbClr val="333333"/>
                    </a:solidFill>
                    <a:latin typeface="Arial"/>
                  </a:defRPr>
                </a:pPr>
                <a:endParaRPr lang="en-H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Sheet1!$A$2:$A$15</c:f>
              <c:strCache>
                <c:ptCount val="14"/>
                <c:pt idx="0">
                  <c:v>2014</c:v>
                </c:pt>
                <c:pt idx="1">
                  <c:v>2015</c:v>
                </c:pt>
                <c:pt idx="2">
                  <c:v>2016</c:v>
                </c:pt>
                <c:pt idx="3">
                  <c:v>2017</c:v>
                </c:pt>
                <c:pt idx="4">
                  <c:v>2018</c:v>
                </c:pt>
                <c:pt idx="5">
                  <c:v>2019</c:v>
                </c:pt>
                <c:pt idx="6">
                  <c:v>2020</c:v>
                </c:pt>
                <c:pt idx="7">
                  <c:v>2021</c:v>
                </c:pt>
                <c:pt idx="8">
                  <c:v>2022</c:v>
                </c:pt>
                <c:pt idx="9">
                  <c:v>2023</c:v>
                </c:pt>
                <c:pt idx="10">
                  <c:v>2024</c:v>
                </c:pt>
                <c:pt idx="11">
                  <c:v>Q1 2025</c:v>
                </c:pt>
                <c:pt idx="12">
                  <c:v>Q2 2025</c:v>
                </c:pt>
                <c:pt idx="13">
                  <c:v>Q3 2025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11">
                  <c:v>0</c:v>
                </c:pt>
                <c:pt idx="12">
                  <c:v>0</c:v>
                </c:pt>
                <c:pt idx="1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1F-054D-BB59-7A8A7C19C61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9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tx1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3333"/>
                </a:solidFill>
                <a:latin typeface="Arial"/>
              </a:defRPr>
            </a:pPr>
            <a:endParaRPr lang="en-H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chemeClr val="tx1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chemeClr val="tx1"/>
                </a:solidFill>
                <a:latin typeface="Arial"/>
              </a:defRPr>
            </a:pPr>
            <a:endParaRPr lang="en-HU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Ex1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Sheet1!$A$2:$A$14</cx:f>
        <cx:lvl ptCount="13">
          <cx:pt idx="0">Clean CCS
EBITDA</cx:pt>
          <cx:pt idx="1">CCS
modifications</cx:pt>
          <cx:pt idx="2">EBITDA excl.
special items</cx:pt>
          <cx:pt idx="3">Special items
(EBITDA)</cx:pt>
          <cx:pt idx="4">DD&amp;A and
impairments</cx:pt>
          <cx:pt idx="5">Profit from
operation</cx:pt>
          <cx:pt idx="6">Total finance
expense/gain,
net</cx:pt>
          <cx:pt idx="7">Income from
associates</cx:pt>
          <cx:pt idx="8">Profit
before tax</cx:pt>
          <cx:pt idx="9">Income tax
expense</cx:pt>
          <cx:pt idx="10">Profit for
the period</cx:pt>
          <cx:pt idx="11">Non-controlling
interests</cx:pt>
          <cx:pt idx="12">Profit for the
period to
equity holders
of the parent</cx:pt>
        </cx:lvl>
      </cx:strDim>
      <cx:numDim type="val">
        <cx:f>Sheet1!$B$2:$B$14</cx:f>
        <cx:lvl ptCount="13" formatCode="Normál">
          <cx:pt idx="0">0</cx:pt>
          <cx:pt idx="1">0</cx:pt>
          <cx:pt idx="2">0</cx:pt>
          <cx:pt idx="3">0</cx:pt>
          <cx:pt idx="4">0</cx:pt>
          <cx:pt idx="5">0</cx:pt>
          <cx:pt idx="6">0</cx:pt>
          <cx:pt idx="7">0</cx:pt>
          <cx:pt idx="8">0</cx:pt>
          <cx:pt idx="9">0</cx:pt>
          <cx:pt idx="10">0</cx:pt>
          <cx:pt idx="11">0</cx:pt>
          <cx:pt idx="12">0</cx:pt>
        </cx:lvl>
      </cx:numDim>
    </cx:data>
  </cx:chartData>
  <cx:chart>
    <cx:plotArea>
      <cx:plotAreaRegion>
        <cx:series layoutId="waterfall" uniqueId="{DEC26F3D-04BC-AD43-AC8A-C611B5377186}">
          <cx:tx>
            <cx:txData>
              <cx:f>Sheet1!$B$1</cx:f>
              <cx:v>Value</cx:v>
            </cx:txData>
          </cx:tx>
          <cx:spPr>
            <a:ln w="12700">
              <a:solidFill>
                <a:srgbClr val="000000">
                  <a:alpha val="0"/>
                </a:srgbClr>
              </a:solidFill>
              <a:prstDash val="dash"/>
            </a:ln>
          </cx:spPr>
          <cx:dataPt idx="0">
            <cx:spPr>
              <a:solidFill>
                <a:srgbClr val="6E6E6E"/>
              </a:solidFill>
            </cx:spPr>
          </cx:dataPt>
          <cx:dataPt idx="1">
            <cx:spPr>
              <a:solidFill>
                <a:srgbClr val="E00120"/>
              </a:solidFill>
            </cx:spPr>
          </cx:dataPt>
          <cx:dataPt idx="2">
            <cx:spPr>
              <a:solidFill>
                <a:srgbClr val="99001E"/>
              </a:solidFill>
            </cx:spPr>
          </cx:dataPt>
          <cx:dataPt idx="3">
            <cx:spPr>
              <a:solidFill>
                <a:srgbClr val="E00120"/>
              </a:solidFill>
            </cx:spPr>
          </cx:dataPt>
          <cx:dataPt idx="4">
            <cx:spPr>
              <a:solidFill>
                <a:srgbClr val="E00120"/>
              </a:solidFill>
            </cx:spPr>
          </cx:dataPt>
          <cx:dataPt idx="5">
            <cx:spPr>
              <a:solidFill>
                <a:srgbClr val="99001E"/>
              </a:solidFill>
            </cx:spPr>
          </cx:dataPt>
          <cx:dataPt idx="6">
            <cx:spPr>
              <a:solidFill>
                <a:srgbClr val="E00120"/>
              </a:solidFill>
            </cx:spPr>
          </cx:dataPt>
          <cx:dataPt idx="7">
            <cx:spPr>
              <a:solidFill>
                <a:srgbClr val="E00120"/>
              </a:solidFill>
            </cx:spPr>
          </cx:dataPt>
          <cx:dataPt idx="8">
            <cx:spPr>
              <a:solidFill>
                <a:srgbClr val="99001E"/>
              </a:solidFill>
            </cx:spPr>
          </cx:dataPt>
          <cx:dataPt idx="9">
            <cx:spPr>
              <a:solidFill>
                <a:srgbClr val="E00120"/>
              </a:solidFill>
            </cx:spPr>
          </cx:dataPt>
          <cx:dataPt idx="10">
            <cx:spPr>
              <a:solidFill>
                <a:srgbClr val="99001E"/>
              </a:solidFill>
            </cx:spPr>
          </cx:dataPt>
          <cx:dataPt idx="11">
            <cx:spPr>
              <a:solidFill>
                <a:srgbClr val="E00120"/>
              </a:solidFill>
            </cx:spPr>
          </cx:dataPt>
          <cx:dataPt idx="12">
            <cx:spPr>
              <a:solidFill>
                <a:srgbClr val="99001E"/>
              </a:solidFill>
            </cx:spPr>
          </cx:dataPt>
          <cx:dataLabels pos="ctr">
            <cx:numFmt formatCode="# ##0;# ##0" sourceLinked="0"/>
            <cx:visibility seriesName="0" categoryName="0" value="1"/>
            <cx:dataLabel idx="0">
              <cx:spPr>
                <a:noFill/>
              </cx:spPr>
            </cx:dataLabel>
            <cx:dataLabel idx="3">
              <cx:spPr>
                <a:solidFill>
                  <a:srgbClr val="E00120"/>
                </a:solidFill>
              </cx:spPr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>
                      <a:solidFill>
                        <a:schemeClr val="bg1"/>
                      </a:solidFill>
                    </a:defRPr>
                  </a:pPr>
                  <a:r>
                    <a:rPr lang="en-US" sz="1197" b="0" i="0" u="none" strike="noStrike" baseline="0">
                      <a:solidFill>
                        <a:schemeClr val="bg1"/>
                      </a:solidFill>
                      <a:latin typeface="Arial"/>
                    </a:rPr>
                    <a:t> 0</a:t>
                  </a:r>
                </a:p>
              </cx:txPr>
              <cx:visibility seriesName="0" categoryName="0" value="1"/>
            </cx:dataLabel>
            <cx:dataLabel idx="6">
              <cx:spPr>
                <a:solidFill>
                  <a:srgbClr val="E00120"/>
                </a:solidFill>
              </cx:spPr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>
                      <a:solidFill>
                        <a:schemeClr val="bg1"/>
                      </a:solidFill>
                    </a:defRPr>
                  </a:pPr>
                  <a:r>
                    <a:rPr lang="en-US" sz="1197" b="0" i="0" u="none" strike="noStrike" baseline="0">
                      <a:solidFill>
                        <a:schemeClr val="bg1"/>
                      </a:solidFill>
                      <a:latin typeface="Arial"/>
                    </a:rPr>
                    <a:t> 0</a:t>
                  </a:r>
                </a:p>
              </cx:txPr>
              <cx:visibility seriesName="0" categoryName="0" value="1"/>
            </cx:dataLabel>
            <cx:dataLabel idx="7">
              <cx:spPr>
                <a:solidFill>
                  <a:srgbClr val="E00120"/>
                </a:solidFill>
              </cx:spPr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>
                      <a:solidFill>
                        <a:schemeClr val="bg1"/>
                      </a:solidFill>
                    </a:defRPr>
                  </a:pPr>
                  <a:r>
                    <a:rPr lang="en-US" sz="1197" b="0" i="0" u="none" strike="noStrike" baseline="0">
                      <a:solidFill>
                        <a:schemeClr val="bg1"/>
                      </a:solidFill>
                      <a:latin typeface="Arial"/>
                    </a:rPr>
                    <a:t> 0</a:t>
                  </a:r>
                </a:p>
              </cx:txPr>
              <cx:visibility seriesName="0" categoryName="0" value="1"/>
            </cx:dataLabel>
            <cx:dataLabel idx="11">
              <cx:spPr>
                <a:solidFill>
                  <a:srgbClr val="E00120"/>
                </a:solidFill>
              </cx:spPr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>
                      <a:solidFill>
                        <a:schemeClr val="bg1"/>
                      </a:solidFill>
                    </a:defRPr>
                  </a:pPr>
                  <a:r>
                    <a:rPr lang="en-US" sz="1197" b="0" i="0" u="none" strike="noStrike" baseline="0">
                      <a:solidFill>
                        <a:schemeClr val="bg1"/>
                      </a:solidFill>
                      <a:latin typeface="Arial"/>
                    </a:rPr>
                    <a:t> 0</a:t>
                  </a:r>
                </a:p>
              </cx:txPr>
              <cx:visibility seriesName="0" categoryName="0" value="1"/>
            </cx:dataLabel>
          </cx:dataLabels>
          <cx:dataId val="0"/>
          <cx:layoutPr>
            <cx:subtotals>
              <cx:idx val="2"/>
              <cx:idx val="5"/>
              <cx:idx val="8"/>
              <cx:idx val="10"/>
              <cx:idx val="12"/>
            </cx:subtotals>
          </cx:layoutPr>
        </cx:series>
      </cx:plotAreaRegion>
      <cx:axis id="0">
        <cx:catScaling gapWidth="0.5"/>
        <cx:tickLabels/>
        <cx:spPr>
          <a:ln w="15875">
            <a:solidFill>
              <a:schemeClr val="tx1"/>
            </a:solidFill>
          </a:ln>
        </cx:spPr>
        <cx:txPr>
          <a:bodyPr spcFirstLastPara="1" vertOverflow="ellipsis" horzOverflow="overflow" wrap="square" lIns="0" tIns="0" rIns="0" bIns="0" anchor="ctr" anchorCtr="1"/>
          <a:lstStyle/>
          <a:p>
            <a:pPr algn="ctr" rtl="0">
              <a:defRPr sz="700" b="1">
                <a:solidFill>
                  <a:schemeClr val="tx1"/>
                </a:solidFill>
              </a:defRPr>
            </a:pPr>
            <a:endParaRPr lang="en-US" sz="700" b="1" i="0" u="none" strike="noStrike" baseline="0">
              <a:solidFill>
                <a:schemeClr val="tx1"/>
              </a:solidFill>
              <a:latin typeface="Arial"/>
            </a:endParaRPr>
          </a:p>
        </cx:txPr>
      </cx:axis>
      <cx:axis id="1" hidden="1">
        <cx:valScaling/>
        <cx:majorGridlines>
          <cx:spPr>
            <a:ln>
              <a:noFill/>
            </a:ln>
          </cx:spPr>
        </cx:majorGridlines>
        <cx:tickLabels/>
      </cx:axis>
    </cx:plotArea>
  </cx:chart>
</cx:chartSpace>
</file>

<file path=ppt/charts/chartEx2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Sheet1!$A$2:$A$9</cx:f>
        <cx:lvl ptCount="8">
          <cx:pt idx="0">Profit before tax
Cont. Operation</cx:pt>
          <cx:pt idx="1">DD&amp;A</cx:pt>
          <cx:pt idx="2">Income tax paid</cx:pt>
          <cx:pt idx="3">Other</cx:pt>
          <cx:pt idx="4">Operating CF
before WC</cx:pt>
          <cx:pt idx="5">Change in WC</cx:pt>
          <cx:pt idx="6">Operating CF</cx:pt>
          <cx:pt idx="7">Organic CAPEX</cx:pt>
        </cx:lvl>
      </cx:strDim>
      <cx:numDim type="val">
        <cx:f>Sheet1!$B$2:$B$9</cx:f>
        <cx:lvl ptCount="8" formatCode="Normál">
          <cx:pt idx="0">0</cx:pt>
          <cx:pt idx="1">0</cx:pt>
          <cx:pt idx="2">0</cx:pt>
          <cx:pt idx="3">0</cx:pt>
          <cx:pt idx="4">0</cx:pt>
          <cx:pt idx="5">0</cx:pt>
          <cx:pt idx="6">0</cx:pt>
          <cx:pt idx="7">0</cx:pt>
        </cx:lvl>
      </cx:numDim>
    </cx:data>
  </cx:chartData>
  <cx:chart>
    <cx:plotArea>
      <cx:plotAreaRegion>
        <cx:series layoutId="waterfall" uniqueId="{8B6CBFBA-F593-7C4F-9ED3-2871758CCE76}">
          <cx:spPr>
            <a:solidFill>
              <a:srgbClr val="E00120"/>
            </a:solidFill>
            <a:ln w="12700">
              <a:solidFill>
                <a:srgbClr val="000000">
                  <a:alpha val="0"/>
                </a:srgbClr>
              </a:solidFill>
              <a:prstDash val="lgDash"/>
            </a:ln>
          </cx:spPr>
          <cx:dataPt idx="0">
            <cx:spPr>
              <a:solidFill>
                <a:srgbClr val="99001E"/>
              </a:solidFill>
            </cx:spPr>
          </cx:dataPt>
          <cx:dataPt idx="1">
            <cx:spPr>
              <a:solidFill>
                <a:srgbClr val="E00120"/>
              </a:solidFill>
            </cx:spPr>
          </cx:dataPt>
          <cx:dataPt idx="2">
            <cx:spPr>
              <a:solidFill>
                <a:srgbClr val="E00120"/>
              </a:solidFill>
            </cx:spPr>
          </cx:dataPt>
          <cx:dataPt idx="4">
            <cx:spPr>
              <a:solidFill>
                <a:srgbClr val="C00000"/>
              </a:solidFill>
            </cx:spPr>
          </cx:dataPt>
          <cx:dataPt idx="6">
            <cx:spPr>
              <a:solidFill>
                <a:srgbClr val="C00000"/>
              </a:solidFill>
            </cx:spPr>
          </cx:dataPt>
          <cx:dataPt idx="7">
            <cx:spPr>
              <a:solidFill>
                <a:srgbClr val="6E6E6E"/>
              </a:solidFill>
            </cx:spPr>
          </cx:dataPt>
          <cx:dataLabels pos="ctr">
            <cx:numFmt formatCode="# ##0;# ##0" sourceLinked="0"/>
            <cx:txPr>
              <a:bodyPr spcFirstLastPara="1" vertOverflow="ellipsis" horzOverflow="overflow" wrap="square" lIns="0" tIns="0" rIns="0" bIns="0" anchor="ctr" anchorCtr="1"/>
              <a:lstStyle/>
              <a:p>
                <a:pPr algn="ctr" rtl="0">
                  <a:defRPr sz="1000" b="1">
                    <a:solidFill>
                      <a:schemeClr val="bg1"/>
                    </a:solidFill>
                  </a:defRPr>
                </a:pPr>
                <a:endParaRPr lang="en-US" sz="1000" b="1" i="0" u="none" strike="noStrike" baseline="0">
                  <a:solidFill>
                    <a:schemeClr val="bg1"/>
                  </a:solidFill>
                  <a:latin typeface="Arial"/>
                </a:endParaRPr>
              </a:p>
            </cx:txPr>
            <cx:visibility seriesName="0" categoryName="0" value="1"/>
            <cx:dataLabel idx="0" pos="outEnd"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>
                      <a:solidFill>
                        <a:schemeClr val="tx1"/>
                      </a:solidFill>
                    </a:defRPr>
                  </a:pPr>
                  <a:r>
                    <a:rPr lang="en-US" sz="1000" b="1" i="0" u="none" strike="noStrike" baseline="0">
                      <a:solidFill>
                        <a:schemeClr val="tx1"/>
                      </a:solidFill>
                      <a:latin typeface="Arial"/>
                    </a:rPr>
                    <a:t> 0</a:t>
                  </a:r>
                </a:p>
              </cx:txPr>
            </cx:dataLabel>
            <cx:dataLabel idx="3">
              <cx:spPr>
                <a:solidFill>
                  <a:srgbClr val="E00120"/>
                </a:solidFill>
              </cx:spPr>
            </cx:dataLabel>
            <cx:dataLabel idx="4" pos="outEnd"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>
                      <a:solidFill>
                        <a:schemeClr val="tx1"/>
                      </a:solidFill>
                    </a:defRPr>
                  </a:pPr>
                  <a:r>
                    <a:rPr lang="en-US" sz="1000" b="1" i="0" u="none" strike="noStrike" baseline="0">
                      <a:solidFill>
                        <a:schemeClr val="tx1"/>
                      </a:solidFill>
                      <a:latin typeface="Arial"/>
                    </a:rPr>
                    <a:t> 0</a:t>
                  </a:r>
                </a:p>
              </cx:txPr>
            </cx:dataLabel>
            <cx:dataLabel idx="5">
              <cx:spPr>
                <a:solidFill>
                  <a:srgbClr val="E00120"/>
                </a:solidFill>
              </cx:spPr>
            </cx:dataLabel>
            <cx:dataLabel idx="6" pos="outEnd"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>
                      <a:solidFill>
                        <a:schemeClr val="tx1"/>
                      </a:solidFill>
                    </a:defRPr>
                  </a:pPr>
                  <a:r>
                    <a:rPr lang="en-US" sz="1000" b="1" i="0" u="none" strike="noStrike" baseline="0">
                      <a:solidFill>
                        <a:schemeClr val="tx1"/>
                      </a:solidFill>
                      <a:latin typeface="Arial"/>
                    </a:rPr>
                    <a:t> 0</a:t>
                  </a:r>
                </a:p>
              </cx:txPr>
            </cx:dataLabel>
            <cx:dataLabel idx="7" pos="outEnd"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>
                      <a:solidFill>
                        <a:schemeClr val="tx1"/>
                      </a:solidFill>
                    </a:defRPr>
                  </a:pPr>
                  <a:r>
                    <a:rPr lang="en-US" sz="1000" b="1" i="0" u="none" strike="noStrike" baseline="0">
                      <a:solidFill>
                        <a:schemeClr val="tx1"/>
                      </a:solidFill>
                      <a:latin typeface="Arial"/>
                    </a:rPr>
                    <a:t> 0</a:t>
                  </a:r>
                </a:p>
              </cx:txPr>
            </cx:dataLabel>
          </cx:dataLabels>
          <cx:dataId val="0"/>
          <cx:layoutPr>
            <cx:subtotals>
              <cx:idx val="0"/>
              <cx:idx val="4"/>
              <cx:idx val="6"/>
              <cx:idx val="7"/>
            </cx:subtotals>
          </cx:layoutPr>
        </cx:series>
      </cx:plotAreaRegion>
      <cx:axis id="0">
        <cx:catScaling gapWidth="0.5"/>
        <cx:tickLabels/>
        <cx:spPr>
          <a:ln w="38100">
            <a:solidFill>
              <a:srgbClr val="000000"/>
            </a:solidFill>
          </a:ln>
        </cx:spPr>
        <cx:txPr>
          <a:bodyPr spcFirstLastPara="1" vertOverflow="ellipsis" horzOverflow="overflow" wrap="square" lIns="0" tIns="0" rIns="0" bIns="0" anchor="ctr" anchorCtr="1"/>
          <a:lstStyle/>
          <a:p>
            <a:pPr algn="ctr" rtl="0">
              <a:defRPr sz="900" b="1">
                <a:solidFill>
                  <a:schemeClr val="tx1"/>
                </a:solidFill>
              </a:defRPr>
            </a:pPr>
            <a:endParaRPr lang="en-US" sz="900" b="1" i="0" u="none" strike="noStrike" baseline="0">
              <a:solidFill>
                <a:schemeClr val="tx1"/>
              </a:solidFill>
              <a:latin typeface="Arial"/>
            </a:endParaRPr>
          </a:p>
        </cx:txPr>
      </cx:axis>
      <cx:axis id="1" hidden="1">
        <cx:valScaling/>
        <cx:tickLabels/>
      </cx:axis>
    </cx:plotArea>
  </cx:chart>
</cx:chartSpace>
</file>

<file path=ppt/charts/chartEx3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Sheet1!$A$2:$A$9</cx:f>
        <cx:lvl ptCount="8">
          <cx:pt idx="0">Net debt
31 Dec 2024</cx:pt>
          <cx:pt idx="1">Simplified
FCF</cx:pt>
          <cx:pt idx="2">Change in
WC</cx:pt>
          <cx:pt idx="3">Acquisitions</cx:pt>
          <cx:pt idx="4">Dividend
payout</cx:pt>
          <cx:pt idx="5">Income tax
paid</cx:pt>
          <cx:pt idx="6">Other</cx:pt>
          <cx:pt idx="7">Net debt
30 Sep 2025</cx:pt>
        </cx:lvl>
      </cx:strDim>
      <cx:numDim type="val">
        <cx:f>Sheet1!$B$2:$B$9</cx:f>
        <cx:lvl ptCount="8" formatCode="Normál">
          <cx:pt idx="0">0</cx:pt>
          <cx:pt idx="1">0</cx:pt>
          <cx:pt idx="2">0</cx:pt>
          <cx:pt idx="3">0</cx:pt>
          <cx:pt idx="4">0</cx:pt>
          <cx:pt idx="5">0</cx:pt>
          <cx:pt idx="6">0</cx:pt>
          <cx:pt idx="7">0</cx:pt>
        </cx:lvl>
      </cx:numDim>
    </cx:data>
  </cx:chartData>
  <cx:chart>
    <cx:plotArea>
      <cx:plotAreaRegion>
        <cx:plotSurface>
          <cx:spPr>
            <a:noFill/>
          </cx:spPr>
        </cx:plotSurface>
        <cx:series layoutId="waterfall" uniqueId="{AC393BAE-275B-7C45-AA4B-E89C7955923A}">
          <cx:tx>
            <cx:txData>
              <cx:f>Sheet1!$B$1</cx:f>
              <cx:v>Values</cx:v>
            </cx:txData>
          </cx:tx>
          <cx:spPr>
            <a:solidFill>
              <a:srgbClr val="E00120"/>
            </a:solidFill>
            <a:ln w="12700">
              <a:solidFill>
                <a:srgbClr val="000000">
                  <a:alpha val="0"/>
                </a:srgbClr>
              </a:solidFill>
              <a:prstDash val="dash"/>
            </a:ln>
          </cx:spPr>
          <cx:dataPt idx="0">
            <cx:spPr>
              <a:solidFill>
                <a:srgbClr val="6E6E6E"/>
              </a:solidFill>
            </cx:spPr>
          </cx:dataPt>
          <cx:dataPt idx="7">
            <cx:spPr>
              <a:solidFill>
                <a:srgbClr val="99001E"/>
              </a:solidFill>
            </cx:spPr>
          </cx:dataPt>
          <cx:dataLabels pos="ctr">
            <cx:numFmt formatCode="# ##0;# ##0" sourceLinked="0"/>
            <cx:txPr>
              <a:bodyPr spcFirstLastPara="1" vertOverflow="ellipsis" horzOverflow="overflow" wrap="square" lIns="0" tIns="0" rIns="0" bIns="0" anchor="ctr" anchorCtr="1"/>
              <a:lstStyle/>
              <a:p>
                <a:pPr algn="ctr" rtl="0">
                  <a:defRPr sz="900">
                    <a:solidFill>
                      <a:schemeClr val="bg1"/>
                    </a:solidFill>
                  </a:defRPr>
                </a:pPr>
                <a:endParaRPr lang="en-US" sz="900" b="0" i="0" u="none" strike="noStrike" baseline="0">
                  <a:solidFill>
                    <a:schemeClr val="bg1"/>
                  </a:solidFill>
                  <a:latin typeface="Arial"/>
                </a:endParaRPr>
              </a:p>
            </cx:txPr>
            <cx:visibility seriesName="0" categoryName="0" value="1"/>
            <cx:dataLabel idx="2">
              <cx:spPr>
                <a:solidFill>
                  <a:srgbClr val="E00120"/>
                </a:solidFill>
              </cx:spPr>
            </cx:dataLabel>
            <cx:dataLabel idx="3">
              <cx:numFmt formatCode="# ##0;# ##0" sourceLinked="0"/>
              <cx:spPr>
                <a:solidFill>
                  <a:srgbClr val="E00120"/>
                </a:solidFill>
              </cx:spPr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 sz="900">
                      <a:solidFill>
                        <a:schemeClr val="bg1"/>
                      </a:solidFill>
                    </a:defRPr>
                  </a:pPr>
                  <a:r>
                    <a:rPr lang="en-US" sz="900" b="0" i="0" u="none" strike="noStrike" baseline="0">
                      <a:solidFill>
                        <a:schemeClr val="bg1"/>
                      </a:solidFill>
                      <a:latin typeface="Arial"/>
                    </a:rPr>
                    <a:t> 0</a:t>
                  </a:r>
                </a:p>
              </cx:txPr>
              <cx:visibility seriesName="0" categoryName="0" value="1"/>
            </cx:dataLabel>
            <cx:dataLabel idx="6">
              <cx:numFmt formatCode="# ##0;# ##0" sourceLinked="0"/>
              <cx:spPr>
                <a:solidFill>
                  <a:srgbClr val="E00120"/>
                </a:solidFill>
              </cx:spPr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 sz="900">
                      <a:solidFill>
                        <a:schemeClr val="bg1"/>
                      </a:solidFill>
                    </a:defRPr>
                  </a:pPr>
                  <a:r>
                    <a:rPr lang="en-US" sz="900" b="0" i="0" u="none" strike="noStrike" baseline="0">
                      <a:solidFill>
                        <a:schemeClr val="bg1"/>
                      </a:solidFill>
                      <a:latin typeface="Arial"/>
                    </a:rPr>
                    <a:t> 0</a:t>
                  </a:r>
                </a:p>
              </cx:txPr>
              <cx:visibility seriesName="0" categoryName="0" value="1"/>
            </cx:dataLabel>
          </cx:dataLabels>
          <cx:dataId val="0"/>
          <cx:layoutPr>
            <cx:visibility connectorLines="1"/>
            <cx:subtotals>
              <cx:idx val="0"/>
              <cx:idx val="4"/>
              <cx:idx val="7"/>
            </cx:subtotals>
          </cx:layoutPr>
        </cx:series>
      </cx:plotAreaRegion>
      <cx:axis id="0">
        <cx:catScaling gapWidth="0.5"/>
        <cx:tickLabels/>
        <cx:spPr>
          <a:ln>
            <a:solidFill>
              <a:schemeClr val="tx1"/>
            </a:solidFill>
          </a:ln>
        </cx:spPr>
        <cx:txPr>
          <a:bodyPr spcFirstLastPara="1" vertOverflow="ellipsis" horzOverflow="overflow" wrap="square" lIns="0" tIns="0" rIns="0" bIns="0" anchor="ctr" anchorCtr="1"/>
          <a:lstStyle/>
          <a:p>
            <a:pPr algn="ctr" rtl="0">
              <a:defRPr sz="800">
                <a:solidFill>
                  <a:schemeClr val="tx1"/>
                </a:solidFill>
              </a:defRPr>
            </a:pPr>
            <a:endParaRPr lang="en-US" sz="800" b="0" i="0" u="none" strike="noStrike" baseline="0">
              <a:solidFill>
                <a:schemeClr val="tx1"/>
              </a:solidFill>
              <a:latin typeface="Arial"/>
            </a:endParaRPr>
          </a:p>
        </cx:txPr>
      </cx:axis>
      <cx:axis id="1" hidden="1">
        <cx:valScaling/>
        <cx:tickLabels/>
      </cx:axis>
    </cx:plotArea>
  </cx:chart>
  <cx:spPr>
    <a:noFill/>
  </cx:spPr>
</cx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95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395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charts/style8.xml><?xml version="1.0" encoding="utf-8"?>
<cs:chartStyle xmlns:cs="http://schemas.microsoft.com/office/drawing/2012/chartStyle" xmlns:a="http://schemas.openxmlformats.org/drawingml/2006/main" id="395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868a5fe0ff_0_1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g3868a5fe0ff_0_10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7" name="Google Shape;87;g3868a5fe0ff_0_10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868a5fe0ff_0_1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5" name="Google Shape;95;g3868a5fe0ff_0_10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6" name="Google Shape;96;g3868a5fe0ff_0_10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E6D8EC38-D2EE-5F8B-FEE2-1A0D5833E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cbdc07648f_0_0:notes">
            <a:extLst>
              <a:ext uri="{FF2B5EF4-FFF2-40B4-BE49-F238E27FC236}">
                <a16:creationId xmlns:a16="http://schemas.microsoft.com/office/drawing/2014/main" id="{3B97CE22-3FCD-E0F0-AFAE-46DBC111E0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3cbdc07648f_0_0:notes">
            <a:extLst>
              <a:ext uri="{FF2B5EF4-FFF2-40B4-BE49-F238E27FC236}">
                <a16:creationId xmlns:a16="http://schemas.microsoft.com/office/drawing/2014/main" id="{D2521F9C-A82E-8720-6532-6985D76526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g3cbdc07648f_0_0:notes">
            <a:extLst>
              <a:ext uri="{FF2B5EF4-FFF2-40B4-BE49-F238E27FC236}">
                <a16:creationId xmlns:a16="http://schemas.microsoft.com/office/drawing/2014/main" id="{6BA54F00-EBBA-AEF8-AA56-3084472D37D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577461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cbdc07648f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cbdc07648f_0_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85" name="Google Shape;185;g3cbdc07648f_0_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>
          <a:extLst>
            <a:ext uri="{FF2B5EF4-FFF2-40B4-BE49-F238E27FC236}">
              <a16:creationId xmlns:a16="http://schemas.microsoft.com/office/drawing/2014/main" id="{D184D5B2-D997-7228-59EC-D410C0BDA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cbdc07648f_0_22:notes">
            <a:extLst>
              <a:ext uri="{FF2B5EF4-FFF2-40B4-BE49-F238E27FC236}">
                <a16:creationId xmlns:a16="http://schemas.microsoft.com/office/drawing/2014/main" id="{9B57BE1E-E9A0-969D-EC83-16296A1E40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3cbdc07648f_0_22:notes">
            <a:extLst>
              <a:ext uri="{FF2B5EF4-FFF2-40B4-BE49-F238E27FC236}">
                <a16:creationId xmlns:a16="http://schemas.microsoft.com/office/drawing/2014/main" id="{14B019CB-4C1D-1A02-B786-31048EB560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g3cbdc07648f_0_22:notes">
            <a:extLst>
              <a:ext uri="{FF2B5EF4-FFF2-40B4-BE49-F238E27FC236}">
                <a16:creationId xmlns:a16="http://schemas.microsoft.com/office/drawing/2014/main" id="{8550A1C1-F754-C894-F631-F5FB2DE7156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558653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868a5fe0ff_0_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2" name="Google Shape;142;g3868a5fe0ff_0_1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3" name="Google Shape;143;g3868a5fe0ff_0_13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4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4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6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6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17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8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8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18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8" name="Google Shape;48;p18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18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0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20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1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1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2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3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3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61215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microsoft.com/office/2014/relationships/chartEx" Target="../charts/chartEx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chart" Target="../charts/chart4.xml"/><Relationship Id="rId3" Type="http://schemas.openxmlformats.org/officeDocument/2006/relationships/image" Target="../media/image2.png"/><Relationship Id="rId7" Type="http://schemas.openxmlformats.org/officeDocument/2006/relationships/chart" Target="../charts/chart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2.xml"/><Relationship Id="rId5" Type="http://schemas.openxmlformats.org/officeDocument/2006/relationships/chart" Target="../charts/chart1.xml"/><Relationship Id="rId4" Type="http://schemas.openxmlformats.org/officeDocument/2006/relationships/image" Target="../media/image3.gif"/><Relationship Id="rId9" Type="http://schemas.openxmlformats.org/officeDocument/2006/relationships/chart" Target="../charts/char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microsoft.com/office/2014/relationships/chartEx" Target="../charts/chartEx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microsoft.com/office/2014/relationships/chartEx" Target="../charts/chartEx3.xml"/><Relationship Id="rId4" Type="http://schemas.openxmlformats.org/officeDocument/2006/relationships/chart" Target="../charts/char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g3868a5fe0ff_0_101"/>
          <p:cNvPicPr preferRelativeResize="0"/>
          <p:nvPr/>
        </p:nvPicPr>
        <p:blipFill rotWithShape="1">
          <a:blip r:embed="rId3">
            <a:alphaModFix/>
          </a:blip>
          <a:srcRect l="45968"/>
          <a:stretch/>
        </p:blipFill>
        <p:spPr>
          <a:xfrm>
            <a:off x="5604575" y="0"/>
            <a:ext cx="6587426" cy="6844301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g3868a5fe0ff_0_101"/>
          <p:cNvSpPr txBox="1"/>
          <p:nvPr/>
        </p:nvSpPr>
        <p:spPr>
          <a:xfrm>
            <a:off x="552650" y="1268600"/>
            <a:ext cx="4019400" cy="102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rgbClr val="E30019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[1]</a:t>
            </a:r>
            <a:endParaRPr sz="3000" b="1" i="0" u="none" strike="noStrike" cap="none">
              <a:solidFill>
                <a:srgbClr val="E30019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91" name="Google Shape;91;g3868a5fe0ff_0_101"/>
          <p:cNvSpPr txBox="1"/>
          <p:nvPr/>
        </p:nvSpPr>
        <p:spPr>
          <a:xfrm>
            <a:off x="534925" y="3677225"/>
            <a:ext cx="2999100" cy="58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lang="en-US" sz="21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[2]</a:t>
            </a:r>
            <a:endParaRPr sz="2100" b="0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92" name="Google Shape;92;g3868a5fe0ff_0_101"/>
          <p:cNvPicPr preferRelativeResize="0"/>
          <p:nvPr/>
        </p:nvPicPr>
        <p:blipFill rotWithShape="1">
          <a:blip r:embed="rId3">
            <a:alphaModFix/>
          </a:blip>
          <a:srcRect t="90559" r="82563"/>
          <a:stretch/>
        </p:blipFill>
        <p:spPr>
          <a:xfrm>
            <a:off x="0" y="6198151"/>
            <a:ext cx="2125874" cy="646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g3868a5fe0ff_0_109"/>
          <p:cNvPicPr preferRelativeResize="0"/>
          <p:nvPr/>
        </p:nvPicPr>
        <p:blipFill rotWithShape="1">
          <a:blip r:embed="rId3">
            <a:alphaModFix/>
          </a:blip>
          <a:srcRect l="80294" t="91228" r="5909" b="2335"/>
          <a:stretch/>
        </p:blipFill>
        <p:spPr>
          <a:xfrm>
            <a:off x="9789575" y="6418191"/>
            <a:ext cx="1681825" cy="439809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g3868a5fe0ff_0_109"/>
          <p:cNvSpPr txBox="1"/>
          <p:nvPr/>
        </p:nvSpPr>
        <p:spPr>
          <a:xfrm>
            <a:off x="563125" y="1663150"/>
            <a:ext cx="10974000" cy="20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ts val="1300"/>
              <a:buFont typeface="Calibri"/>
              <a:buChar char="⏵"/>
            </a:pPr>
            <a:r>
              <a:rPr lang="en-US" sz="13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[3]</a:t>
            </a:r>
            <a:endParaRPr sz="13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g3868a5fe0ff_0_109"/>
          <p:cNvSpPr txBox="1"/>
          <p:nvPr/>
        </p:nvSpPr>
        <p:spPr>
          <a:xfrm>
            <a:off x="563125" y="4189450"/>
            <a:ext cx="10974000" cy="16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ts val="1300"/>
              <a:buFont typeface="Calibri"/>
              <a:buChar char="⏵"/>
            </a:pPr>
            <a:r>
              <a:rPr lang="en-US" sz="13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[4]</a:t>
            </a:r>
            <a:endParaRPr sz="13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g3868a5fe0ff_0_109"/>
          <p:cNvSpPr txBox="1">
            <a:spLocks noGrp="1"/>
          </p:cNvSpPr>
          <p:nvPr>
            <p:ph type="sldNum" idx="12"/>
          </p:nvPr>
        </p:nvSpPr>
        <p:spPr>
          <a:xfrm>
            <a:off x="11195623" y="6440266"/>
            <a:ext cx="524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 sz="1600" b="1"/>
              <a:t>2</a:t>
            </a:fld>
            <a:endParaRPr sz="1600" b="1" dirty="0"/>
          </a:p>
        </p:txBody>
      </p:sp>
      <p:sp>
        <p:nvSpPr>
          <p:cNvPr id="104" name="Google Shape;104;g3868a5fe0ff_0_109"/>
          <p:cNvSpPr/>
          <p:nvPr/>
        </p:nvSpPr>
        <p:spPr>
          <a:xfrm>
            <a:off x="491487" y="3862575"/>
            <a:ext cx="11209024" cy="285750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200"/>
            </a:pPr>
            <a:r>
              <a:rPr lang="en-US" sz="12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OPERATIONAL AND OTHER DEVELOPMENTS</a:t>
            </a:r>
            <a:endParaRPr sz="1200" b="1">
              <a:solidFill>
                <a:schemeClr val="lt1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05" name="Google Shape;105;g3868a5fe0ff_0_109"/>
          <p:cNvSpPr/>
          <p:nvPr/>
        </p:nvSpPr>
        <p:spPr>
          <a:xfrm>
            <a:off x="491487" y="1350650"/>
            <a:ext cx="11209024" cy="285750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200"/>
            </a:pPr>
            <a:r>
              <a:rPr lang="en-US" sz="12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FINANCIALS</a:t>
            </a:r>
            <a:endParaRPr sz="1200" b="1">
              <a:solidFill>
                <a:schemeClr val="lt1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4" name="Google Shape;99;g3868a5fe0ff_0_109">
            <a:extLst>
              <a:ext uri="{FF2B5EF4-FFF2-40B4-BE49-F238E27FC236}">
                <a16:creationId xmlns:a16="http://schemas.microsoft.com/office/drawing/2014/main" id="{DFEF76DF-7009-9C51-27D8-0874878F73C5}"/>
              </a:ext>
            </a:extLst>
          </p:cNvPr>
          <p:cNvSpPr txBox="1"/>
          <p:nvPr/>
        </p:nvSpPr>
        <p:spPr>
          <a:xfrm>
            <a:off x="551411" y="363777"/>
            <a:ext cx="10979625" cy="4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E30019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[1]</a:t>
            </a:r>
            <a:endParaRPr sz="2400" b="1" i="0" u="none" strike="noStrike" cap="none" dirty="0">
              <a:solidFill>
                <a:srgbClr val="E30019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5" name="Google Shape;100;g3868a5fe0ff_0_109">
            <a:extLst>
              <a:ext uri="{FF2B5EF4-FFF2-40B4-BE49-F238E27FC236}">
                <a16:creationId xmlns:a16="http://schemas.microsoft.com/office/drawing/2014/main" id="{B2ADD0BB-E8C2-8C8C-55AA-255980F7D681}"/>
              </a:ext>
            </a:extLst>
          </p:cNvPr>
          <p:cNvSpPr txBox="1"/>
          <p:nvPr/>
        </p:nvSpPr>
        <p:spPr>
          <a:xfrm>
            <a:off x="564761" y="726904"/>
            <a:ext cx="10979625" cy="42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[2]</a:t>
            </a:r>
            <a:endParaRPr sz="1500" b="1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>
          <a:extLst>
            <a:ext uri="{FF2B5EF4-FFF2-40B4-BE49-F238E27FC236}">
              <a16:creationId xmlns:a16="http://schemas.microsoft.com/office/drawing/2014/main" id="{E5CF4A48-A038-160A-D67A-8CD453BAC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98;g3868a5fe0ff_0_109">
            <a:extLst>
              <a:ext uri="{FF2B5EF4-FFF2-40B4-BE49-F238E27FC236}">
                <a16:creationId xmlns:a16="http://schemas.microsoft.com/office/drawing/2014/main" id="{BD13BF23-9F19-C45E-7C22-8F89855580C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80294" t="91228" r="5909" b="2335"/>
          <a:stretch/>
        </p:blipFill>
        <p:spPr>
          <a:xfrm>
            <a:off x="9789575" y="6418191"/>
            <a:ext cx="1681825" cy="43980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103;g3868a5fe0ff_0_109">
            <a:extLst>
              <a:ext uri="{FF2B5EF4-FFF2-40B4-BE49-F238E27FC236}">
                <a16:creationId xmlns:a16="http://schemas.microsoft.com/office/drawing/2014/main" id="{9E0774BF-BC3A-3457-634E-A93D8FDAFF7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195623" y="6440266"/>
            <a:ext cx="524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 sz="1600" b="1"/>
              <a:t>3</a:t>
            </a:fld>
            <a:endParaRPr sz="1600" b="1" dirty="0"/>
          </a:p>
        </p:txBody>
      </p:sp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2" name="Chart 1">
                <a:extLst>
                  <a:ext uri="{FF2B5EF4-FFF2-40B4-BE49-F238E27FC236}">
                    <a16:creationId xmlns:a16="http://schemas.microsoft.com/office/drawing/2014/main" id="{7F0AD818-6FBC-90B0-754C-706F899FFC8C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4135546629"/>
                  </p:ext>
                </p:extLst>
              </p:nvPr>
            </p:nvGraphicFramePr>
            <p:xfrm>
              <a:off x="1151068" y="1922317"/>
              <a:ext cx="10133704" cy="3574839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4"/>
              </a:graphicData>
            </a:graphic>
          </p:graphicFrame>
        </mc:Choice>
        <mc:Fallback xmlns="">
          <p:pic>
            <p:nvPicPr>
              <p:cNvPr id="2" name="Chart 1">
                <a:extLst>
                  <a:ext uri="{FF2B5EF4-FFF2-40B4-BE49-F238E27FC236}">
                    <a16:creationId xmlns:a16="http://schemas.microsoft.com/office/drawing/2014/main" id="{7F0AD818-6FBC-90B0-754C-706F899FFC8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151068" y="1922317"/>
                <a:ext cx="10133704" cy="3574839"/>
              </a:xfrm>
              <a:prstGeom prst="rect">
                <a:avLst/>
              </a:prstGeom>
            </p:spPr>
          </p:pic>
        </mc:Fallback>
      </mc:AlternateContent>
      <p:sp>
        <p:nvSpPr>
          <p:cNvPr id="8" name="Google Shape;181;g3cbdc07648f_0_0">
            <a:extLst>
              <a:ext uri="{FF2B5EF4-FFF2-40B4-BE49-F238E27FC236}">
                <a16:creationId xmlns:a16="http://schemas.microsoft.com/office/drawing/2014/main" id="{DCDD4132-32A3-DB45-9716-25E3719B9CDD}"/>
              </a:ext>
            </a:extLst>
          </p:cNvPr>
          <p:cNvSpPr/>
          <p:nvPr/>
        </p:nvSpPr>
        <p:spPr>
          <a:xfrm>
            <a:off x="659583" y="1538343"/>
            <a:ext cx="10811817" cy="267827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200"/>
            </a:pP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FY 2025 EARNINGS (USD </a:t>
            </a:r>
            <a:r>
              <a:rPr lang="en-US" sz="1200" b="1" dirty="0" err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mn</a:t>
            </a: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) - BELOW THE EBITDA LINE ITEMS</a:t>
            </a:r>
            <a:endParaRPr sz="1200" b="1" dirty="0">
              <a:solidFill>
                <a:schemeClr val="lt1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9" name="Google Shape;99;g3868a5fe0ff_0_109">
            <a:extLst>
              <a:ext uri="{FF2B5EF4-FFF2-40B4-BE49-F238E27FC236}">
                <a16:creationId xmlns:a16="http://schemas.microsoft.com/office/drawing/2014/main" id="{30D9C5C5-250E-6BDE-6FC6-63E47CF71A3B}"/>
              </a:ext>
            </a:extLst>
          </p:cNvPr>
          <p:cNvSpPr txBox="1"/>
          <p:nvPr/>
        </p:nvSpPr>
        <p:spPr>
          <a:xfrm>
            <a:off x="551411" y="363777"/>
            <a:ext cx="10979625" cy="4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E30019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[1]</a:t>
            </a:r>
            <a:endParaRPr sz="2400" b="1" i="0" u="none" strike="noStrike" cap="none" dirty="0">
              <a:solidFill>
                <a:srgbClr val="E30019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0" name="Google Shape;100;g3868a5fe0ff_0_109">
            <a:extLst>
              <a:ext uri="{FF2B5EF4-FFF2-40B4-BE49-F238E27FC236}">
                <a16:creationId xmlns:a16="http://schemas.microsoft.com/office/drawing/2014/main" id="{65F68FFD-903C-C845-1FF5-72E942B326E3}"/>
              </a:ext>
            </a:extLst>
          </p:cNvPr>
          <p:cNvSpPr txBox="1"/>
          <p:nvPr/>
        </p:nvSpPr>
        <p:spPr>
          <a:xfrm>
            <a:off x="564761" y="726904"/>
            <a:ext cx="10979625" cy="42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[2]</a:t>
            </a:r>
            <a:endParaRPr sz="1500" b="1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25722498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89;g3cbdc07648f_0_11">
            <a:extLst>
              <a:ext uri="{FF2B5EF4-FFF2-40B4-BE49-F238E27FC236}">
                <a16:creationId xmlns:a16="http://schemas.microsoft.com/office/drawing/2014/main" id="{DA390639-9D40-B27D-66A9-B739D821F6E6}"/>
              </a:ext>
            </a:extLst>
          </p:cNvPr>
          <p:cNvSpPr/>
          <p:nvPr/>
        </p:nvSpPr>
        <p:spPr>
          <a:xfrm>
            <a:off x="534155" y="1167897"/>
            <a:ext cx="6609030" cy="244255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Clean CCS effect, gain / loss (USD </a:t>
            </a:r>
            <a:r>
              <a:rPr lang="en-US" sz="1200" b="1" dirty="0" err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mn</a:t>
            </a: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89;g3cbdc07648f_0_11">
            <a:extLst>
              <a:ext uri="{FF2B5EF4-FFF2-40B4-BE49-F238E27FC236}">
                <a16:creationId xmlns:a16="http://schemas.microsoft.com/office/drawing/2014/main" id="{3CD6BB9E-3880-120B-0BD6-98FD9DFAFB43}"/>
              </a:ext>
            </a:extLst>
          </p:cNvPr>
          <p:cNvSpPr/>
          <p:nvPr/>
        </p:nvSpPr>
        <p:spPr>
          <a:xfrm>
            <a:off x="534155" y="2180376"/>
            <a:ext cx="6609030" cy="244255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DD&amp;A (USD </a:t>
            </a:r>
            <a:r>
              <a:rPr lang="en-US" sz="1200" b="1" dirty="0" err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mn</a:t>
            </a: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" name="Google Shape;189;g3cbdc07648f_0_11">
            <a:extLst>
              <a:ext uri="{FF2B5EF4-FFF2-40B4-BE49-F238E27FC236}">
                <a16:creationId xmlns:a16="http://schemas.microsoft.com/office/drawing/2014/main" id="{873B169F-7AC1-270F-D355-72B7AB324EB3}"/>
              </a:ext>
            </a:extLst>
          </p:cNvPr>
          <p:cNvSpPr/>
          <p:nvPr/>
        </p:nvSpPr>
        <p:spPr>
          <a:xfrm>
            <a:off x="534155" y="3234758"/>
            <a:ext cx="6609030" cy="244255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Total Financial expense (+) / gain (-) (USD </a:t>
            </a:r>
            <a:r>
              <a:rPr lang="en-US" sz="1200" b="1" dirty="0" err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mn</a:t>
            </a: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89;g3cbdc07648f_0_11">
            <a:extLst>
              <a:ext uri="{FF2B5EF4-FFF2-40B4-BE49-F238E27FC236}">
                <a16:creationId xmlns:a16="http://schemas.microsoft.com/office/drawing/2014/main" id="{4FBE47B1-F2F8-D376-5A86-3EB26A2853BF}"/>
              </a:ext>
            </a:extLst>
          </p:cNvPr>
          <p:cNvSpPr/>
          <p:nvPr/>
        </p:nvSpPr>
        <p:spPr>
          <a:xfrm>
            <a:off x="534155" y="4289140"/>
            <a:ext cx="6609030" cy="244255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Income from associates (USD </a:t>
            </a:r>
            <a:r>
              <a:rPr lang="en-US" sz="1200" b="1" dirty="0" err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mn</a:t>
            </a: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89;g3cbdc07648f_0_11">
            <a:extLst>
              <a:ext uri="{FF2B5EF4-FFF2-40B4-BE49-F238E27FC236}">
                <a16:creationId xmlns:a16="http://schemas.microsoft.com/office/drawing/2014/main" id="{42E50F36-EBA0-9BD6-4C66-78727AEC73ED}"/>
              </a:ext>
            </a:extLst>
          </p:cNvPr>
          <p:cNvSpPr/>
          <p:nvPr/>
        </p:nvSpPr>
        <p:spPr>
          <a:xfrm>
            <a:off x="534155" y="5445848"/>
            <a:ext cx="6609030" cy="244255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Income tax expenses (USD </a:t>
            </a:r>
            <a:r>
              <a:rPr lang="en-US" sz="1200" b="1" dirty="0" err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mn</a:t>
            </a: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" name="Google Shape;189;g3cbdc07648f_0_11">
            <a:extLst>
              <a:ext uri="{FF2B5EF4-FFF2-40B4-BE49-F238E27FC236}">
                <a16:creationId xmlns:a16="http://schemas.microsoft.com/office/drawing/2014/main" id="{EB7E71E9-8CB1-4463-23F5-53556E15D56C}"/>
              </a:ext>
            </a:extLst>
          </p:cNvPr>
          <p:cNvSpPr/>
          <p:nvPr/>
        </p:nvSpPr>
        <p:spPr>
          <a:xfrm>
            <a:off x="7487216" y="1167896"/>
            <a:ext cx="4101220" cy="244255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Comments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101;g3868a5fe0ff_0_109">
            <a:extLst>
              <a:ext uri="{FF2B5EF4-FFF2-40B4-BE49-F238E27FC236}">
                <a16:creationId xmlns:a16="http://schemas.microsoft.com/office/drawing/2014/main" id="{438721D1-078D-7F44-B0E5-99A71BE8C8D6}"/>
              </a:ext>
            </a:extLst>
          </p:cNvPr>
          <p:cNvSpPr txBox="1"/>
          <p:nvPr/>
        </p:nvSpPr>
        <p:spPr>
          <a:xfrm>
            <a:off x="7535344" y="1473672"/>
            <a:ext cx="3887510" cy="950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ct val="115000"/>
              <a:buFont typeface="Calibri"/>
              <a:buChar char="⏵"/>
            </a:pPr>
            <a:r>
              <a:rPr lang="en-US" sz="13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[2]</a:t>
            </a:r>
            <a:endParaRPr sz="1300" b="1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" name="Google Shape;98;g3868a5fe0ff_0_109">
            <a:extLst>
              <a:ext uri="{FF2B5EF4-FFF2-40B4-BE49-F238E27FC236}">
                <a16:creationId xmlns:a16="http://schemas.microsoft.com/office/drawing/2014/main" id="{B0616525-60A6-8C32-4B60-25D4F86ECBF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80294" t="91228" r="5909" b="2335"/>
          <a:stretch/>
        </p:blipFill>
        <p:spPr>
          <a:xfrm>
            <a:off x="9789575" y="6418191"/>
            <a:ext cx="1681825" cy="439809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103;g3868a5fe0ff_0_109">
            <a:extLst>
              <a:ext uri="{FF2B5EF4-FFF2-40B4-BE49-F238E27FC236}">
                <a16:creationId xmlns:a16="http://schemas.microsoft.com/office/drawing/2014/main" id="{2156B8C9-A6A1-058C-7CC2-831F21FF11F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195623" y="6440266"/>
            <a:ext cx="524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 sz="1600" b="1"/>
              <a:t>4</a:t>
            </a:fld>
            <a:endParaRPr sz="1600" b="1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A26C3CB5-1D44-EC7C-CFBC-FFDD7F60FC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9650" y="3422650"/>
            <a:ext cx="12700" cy="12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9;g3868a5fe0ff_0_109">
            <a:extLst>
              <a:ext uri="{FF2B5EF4-FFF2-40B4-BE49-F238E27FC236}">
                <a16:creationId xmlns:a16="http://schemas.microsoft.com/office/drawing/2014/main" id="{4C2CFBB3-41E4-4A55-00A6-1E36016D62FB}"/>
              </a:ext>
            </a:extLst>
          </p:cNvPr>
          <p:cNvSpPr txBox="1"/>
          <p:nvPr/>
        </p:nvSpPr>
        <p:spPr>
          <a:xfrm>
            <a:off x="555758" y="449296"/>
            <a:ext cx="10979625" cy="4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E30019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[1]</a:t>
            </a:r>
            <a:endParaRPr sz="2400" b="1" i="0" u="none" strike="noStrike" cap="none" dirty="0">
              <a:solidFill>
                <a:srgbClr val="E30019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B41546C3-2D9C-F41D-4325-D440A09DDBF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33840290"/>
              </p:ext>
            </p:extLst>
          </p:nvPr>
        </p:nvGraphicFramePr>
        <p:xfrm>
          <a:off x="545684" y="1473672"/>
          <a:ext cx="6638479" cy="66304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12" name="Chart 11">
            <a:extLst>
              <a:ext uri="{FF2B5EF4-FFF2-40B4-BE49-F238E27FC236}">
                <a16:creationId xmlns:a16="http://schemas.microsoft.com/office/drawing/2014/main" id="{83D6DFE2-483C-DD9B-22B4-0F156B803F1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32823349"/>
              </p:ext>
            </p:extLst>
          </p:nvPr>
        </p:nvGraphicFramePr>
        <p:xfrm>
          <a:off x="555759" y="2478546"/>
          <a:ext cx="6638479" cy="86897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20" name="Chart 19">
            <a:extLst>
              <a:ext uri="{FF2B5EF4-FFF2-40B4-BE49-F238E27FC236}">
                <a16:creationId xmlns:a16="http://schemas.microsoft.com/office/drawing/2014/main" id="{25B0F240-B093-8749-A6AA-643FD8818E0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62981246"/>
              </p:ext>
            </p:extLst>
          </p:nvPr>
        </p:nvGraphicFramePr>
        <p:xfrm>
          <a:off x="547029" y="4644196"/>
          <a:ext cx="6638479" cy="90354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27" name="Chart 26">
            <a:extLst>
              <a:ext uri="{FF2B5EF4-FFF2-40B4-BE49-F238E27FC236}">
                <a16:creationId xmlns:a16="http://schemas.microsoft.com/office/drawing/2014/main" id="{31395C44-5AA7-531A-4B5D-45894C4102E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30804523"/>
              </p:ext>
            </p:extLst>
          </p:nvPr>
        </p:nvGraphicFramePr>
        <p:xfrm>
          <a:off x="604407" y="5795262"/>
          <a:ext cx="6638479" cy="86897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graphicFrame>
        <p:nvGraphicFramePr>
          <p:cNvPr id="31" name="Chart 30">
            <a:extLst>
              <a:ext uri="{FF2B5EF4-FFF2-40B4-BE49-F238E27FC236}">
                <a16:creationId xmlns:a16="http://schemas.microsoft.com/office/drawing/2014/main" id="{850BBD9D-4133-4390-AEBF-AF1F2989611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27040148"/>
              </p:ext>
            </p:extLst>
          </p:nvPr>
        </p:nvGraphicFramePr>
        <p:xfrm>
          <a:off x="555758" y="3554144"/>
          <a:ext cx="6638479" cy="7775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sp>
        <p:nvSpPr>
          <p:cNvPr id="4" name="Google Shape;101;g3868a5fe0ff_0_109">
            <a:extLst>
              <a:ext uri="{FF2B5EF4-FFF2-40B4-BE49-F238E27FC236}">
                <a16:creationId xmlns:a16="http://schemas.microsoft.com/office/drawing/2014/main" id="{C3A8D023-F694-7059-8F2F-8A7563EAB999}"/>
              </a:ext>
            </a:extLst>
          </p:cNvPr>
          <p:cNvSpPr txBox="1"/>
          <p:nvPr/>
        </p:nvSpPr>
        <p:spPr>
          <a:xfrm>
            <a:off x="7535344" y="2449732"/>
            <a:ext cx="3887510" cy="950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ct val="115000"/>
              <a:buFont typeface="Calibri"/>
              <a:buChar char="⏵"/>
            </a:pPr>
            <a:r>
              <a:rPr lang="en-US" sz="13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</a:t>
            </a:r>
            <a:r>
              <a:rPr lang="hu-HU" sz="13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r>
              <a:rPr lang="en-US" sz="13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]</a:t>
            </a:r>
            <a:endParaRPr sz="1300" b="1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101;g3868a5fe0ff_0_109">
            <a:extLst>
              <a:ext uri="{FF2B5EF4-FFF2-40B4-BE49-F238E27FC236}">
                <a16:creationId xmlns:a16="http://schemas.microsoft.com/office/drawing/2014/main" id="{A1F1E2E6-7F42-4F62-E9AB-CC5CA3FFEE2D}"/>
              </a:ext>
            </a:extLst>
          </p:cNvPr>
          <p:cNvSpPr txBox="1"/>
          <p:nvPr/>
        </p:nvSpPr>
        <p:spPr>
          <a:xfrm>
            <a:off x="7535344" y="3554144"/>
            <a:ext cx="3887510" cy="950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ct val="115000"/>
              <a:buFont typeface="Calibri"/>
              <a:buChar char="⏵"/>
            </a:pPr>
            <a:r>
              <a:rPr lang="en-US" sz="13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</a:t>
            </a:r>
            <a:r>
              <a:rPr lang="hu-HU" sz="13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r>
              <a:rPr lang="en-US" sz="13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]</a:t>
            </a:r>
            <a:endParaRPr sz="1300" b="1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101;g3868a5fe0ff_0_109">
            <a:extLst>
              <a:ext uri="{FF2B5EF4-FFF2-40B4-BE49-F238E27FC236}">
                <a16:creationId xmlns:a16="http://schemas.microsoft.com/office/drawing/2014/main" id="{662F978A-A7CC-19AE-494F-E69C6A8E4BB2}"/>
              </a:ext>
            </a:extLst>
          </p:cNvPr>
          <p:cNvSpPr txBox="1"/>
          <p:nvPr/>
        </p:nvSpPr>
        <p:spPr>
          <a:xfrm>
            <a:off x="7535344" y="4617015"/>
            <a:ext cx="3887510" cy="950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ct val="115000"/>
              <a:buFont typeface="Calibri"/>
              <a:buChar char="⏵"/>
            </a:pPr>
            <a:r>
              <a:rPr lang="en-US" sz="13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</a:t>
            </a:r>
            <a:r>
              <a:rPr lang="hu-HU" sz="13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r>
              <a:rPr lang="en-US" sz="13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]</a:t>
            </a:r>
            <a:endParaRPr sz="1300" b="1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101;g3868a5fe0ff_0_109">
            <a:extLst>
              <a:ext uri="{FF2B5EF4-FFF2-40B4-BE49-F238E27FC236}">
                <a16:creationId xmlns:a16="http://schemas.microsoft.com/office/drawing/2014/main" id="{DD1922EE-C8F5-14D4-6EA9-EAE1C187D9E3}"/>
              </a:ext>
            </a:extLst>
          </p:cNvPr>
          <p:cNvSpPr txBox="1"/>
          <p:nvPr/>
        </p:nvSpPr>
        <p:spPr>
          <a:xfrm>
            <a:off x="7535344" y="5527056"/>
            <a:ext cx="3887510" cy="950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ct val="115000"/>
              <a:buFont typeface="Calibri"/>
              <a:buChar char="⏵"/>
            </a:pPr>
            <a:r>
              <a:rPr lang="en-US" sz="13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</a:t>
            </a:r>
            <a:r>
              <a:rPr lang="hu-HU" sz="13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lang="en-US" sz="13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]</a:t>
            </a:r>
            <a:endParaRPr sz="1300" b="1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">
          <a:extLst>
            <a:ext uri="{FF2B5EF4-FFF2-40B4-BE49-F238E27FC236}">
              <a16:creationId xmlns:a16="http://schemas.microsoft.com/office/drawing/2014/main" id="{A2AFC630-0BDC-84D8-1025-055303356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99;g3868a5fe0ff_0_109">
            <a:extLst>
              <a:ext uri="{FF2B5EF4-FFF2-40B4-BE49-F238E27FC236}">
                <a16:creationId xmlns:a16="http://schemas.microsoft.com/office/drawing/2014/main" id="{E73C353D-1B70-7A04-62C5-E866464D7C11}"/>
              </a:ext>
            </a:extLst>
          </p:cNvPr>
          <p:cNvSpPr txBox="1"/>
          <p:nvPr/>
        </p:nvSpPr>
        <p:spPr>
          <a:xfrm>
            <a:off x="551411" y="363777"/>
            <a:ext cx="10979625" cy="4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E30019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[1]</a:t>
            </a:r>
            <a:endParaRPr sz="2400" b="1" i="0" u="none" strike="noStrike" cap="none" dirty="0">
              <a:solidFill>
                <a:srgbClr val="E30019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5" name="Google Shape;100;g3868a5fe0ff_0_109">
            <a:extLst>
              <a:ext uri="{FF2B5EF4-FFF2-40B4-BE49-F238E27FC236}">
                <a16:creationId xmlns:a16="http://schemas.microsoft.com/office/drawing/2014/main" id="{389E4DB8-D59A-6399-F958-F85283001EF9}"/>
              </a:ext>
            </a:extLst>
          </p:cNvPr>
          <p:cNvSpPr txBox="1"/>
          <p:nvPr/>
        </p:nvSpPr>
        <p:spPr>
          <a:xfrm>
            <a:off x="564761" y="726904"/>
            <a:ext cx="10979625" cy="42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[2]</a:t>
            </a:r>
            <a:endParaRPr sz="1500" b="1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6" name="Google Shape;105;g3868a5fe0ff_0_109">
            <a:extLst>
              <a:ext uri="{FF2B5EF4-FFF2-40B4-BE49-F238E27FC236}">
                <a16:creationId xmlns:a16="http://schemas.microsoft.com/office/drawing/2014/main" id="{886270C0-5D95-781C-9D27-972A34588583}"/>
              </a:ext>
            </a:extLst>
          </p:cNvPr>
          <p:cNvSpPr/>
          <p:nvPr/>
        </p:nvSpPr>
        <p:spPr>
          <a:xfrm>
            <a:off x="660964" y="1350650"/>
            <a:ext cx="10870072" cy="285750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200"/>
            </a:pP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OPERATING CASH FLOW FOR TOTAL OPERATION IN FY 2025 (USD </a:t>
            </a:r>
            <a:r>
              <a:rPr lang="en-US" sz="1200" b="1" dirty="0" err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mn</a:t>
            </a: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)</a:t>
            </a:r>
            <a:endParaRPr lang="en-US" sz="1200" b="1" dirty="0">
              <a:solidFill>
                <a:schemeClr val="lt1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7" name="Google Shape;105;g3868a5fe0ff_0_109">
            <a:extLst>
              <a:ext uri="{FF2B5EF4-FFF2-40B4-BE49-F238E27FC236}">
                <a16:creationId xmlns:a16="http://schemas.microsoft.com/office/drawing/2014/main" id="{CF54EAFA-B89C-19CE-3F40-0042F6FBD118}"/>
              </a:ext>
            </a:extLst>
          </p:cNvPr>
          <p:cNvSpPr/>
          <p:nvPr/>
        </p:nvSpPr>
        <p:spPr>
          <a:xfrm>
            <a:off x="660963" y="4799143"/>
            <a:ext cx="10870073" cy="285750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200"/>
            </a:pP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COMMENTS</a:t>
            </a:r>
            <a:endParaRPr sz="1200" b="1" dirty="0">
              <a:solidFill>
                <a:schemeClr val="lt1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8" name="Google Shape;101;g3868a5fe0ff_0_109">
            <a:extLst>
              <a:ext uri="{FF2B5EF4-FFF2-40B4-BE49-F238E27FC236}">
                <a16:creationId xmlns:a16="http://schemas.microsoft.com/office/drawing/2014/main" id="{E511E730-4BBF-8717-6E67-98641C4B0BF0}"/>
              </a:ext>
            </a:extLst>
          </p:cNvPr>
          <p:cNvSpPr txBox="1"/>
          <p:nvPr/>
        </p:nvSpPr>
        <p:spPr>
          <a:xfrm>
            <a:off x="678718" y="5188222"/>
            <a:ext cx="10865667" cy="950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ct val="115000"/>
              <a:buFont typeface="Calibri"/>
              <a:buChar char="⏵"/>
            </a:pPr>
            <a:r>
              <a:rPr lang="en-US" sz="13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[3]</a:t>
            </a:r>
          </a:p>
        </p:txBody>
      </p:sp>
      <p:pic>
        <p:nvPicPr>
          <p:cNvPr id="9" name="Google Shape;98;g3868a5fe0ff_0_109">
            <a:extLst>
              <a:ext uri="{FF2B5EF4-FFF2-40B4-BE49-F238E27FC236}">
                <a16:creationId xmlns:a16="http://schemas.microsoft.com/office/drawing/2014/main" id="{6D703B87-6116-0A2E-A47A-9FF5D3054E9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80294" t="91228" r="5909" b="2335"/>
          <a:stretch/>
        </p:blipFill>
        <p:spPr>
          <a:xfrm>
            <a:off x="9789575" y="6418191"/>
            <a:ext cx="1681825" cy="439809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3;g3868a5fe0ff_0_109">
            <a:extLst>
              <a:ext uri="{FF2B5EF4-FFF2-40B4-BE49-F238E27FC236}">
                <a16:creationId xmlns:a16="http://schemas.microsoft.com/office/drawing/2014/main" id="{3D59C336-7739-BCD5-8146-CC48CC5D42A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195623" y="6440266"/>
            <a:ext cx="524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 sz="1600" b="1"/>
              <a:t>5</a:t>
            </a:fld>
            <a:endParaRPr sz="1600" b="1" dirty="0"/>
          </a:p>
        </p:txBody>
      </p:sp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2" name="Chart 1">
                <a:extLst>
                  <a:ext uri="{FF2B5EF4-FFF2-40B4-BE49-F238E27FC236}">
                    <a16:creationId xmlns:a16="http://schemas.microsoft.com/office/drawing/2014/main" id="{EC1550EE-ED9A-307A-C441-D8ACF59BD481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246381340"/>
                  </p:ext>
                </p:extLst>
              </p:nvPr>
            </p:nvGraphicFramePr>
            <p:xfrm>
              <a:off x="678719" y="1739729"/>
              <a:ext cx="10792681" cy="2780405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4"/>
              </a:graphicData>
            </a:graphic>
          </p:graphicFrame>
        </mc:Choice>
        <mc:Fallback xmlns="">
          <p:pic>
            <p:nvPicPr>
              <p:cNvPr id="2" name="Chart 1">
                <a:extLst>
                  <a:ext uri="{FF2B5EF4-FFF2-40B4-BE49-F238E27FC236}">
                    <a16:creationId xmlns:a16="http://schemas.microsoft.com/office/drawing/2014/main" id="{EC1550EE-ED9A-307A-C441-D8ACF59BD48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78719" y="1739729"/>
                <a:ext cx="10792681" cy="2780405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265122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/>
          <p:cNvSpPr/>
          <p:nvPr/>
        </p:nvSpPr>
        <p:spPr>
          <a:xfrm>
            <a:off x="426720" y="1063019"/>
            <a:ext cx="5486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DEBT TO EBITDA (x</a:t>
            </a:r>
            <a:endParaRPr lang="en-US" sz="1000" dirty="0"/>
          </a:p>
        </p:txBody>
      </p:sp>
      <p:graphicFrame>
        <p:nvGraphicFramePr>
          <p:cNvPr id="16" name="Chart 0"/>
          <p:cNvGraphicFramePr/>
          <p:nvPr>
            <p:extLst>
              <p:ext uri="{D42A27DB-BD31-4B8C-83A1-F6EECF244321}">
                <p14:modId xmlns:p14="http://schemas.microsoft.com/office/powerpoint/2010/main" val="3771866453"/>
              </p:ext>
            </p:extLst>
          </p:nvPr>
        </p:nvGraphicFramePr>
        <p:xfrm>
          <a:off x="519136" y="1799249"/>
          <a:ext cx="5515928" cy="205717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7" name="Shape 14"/>
          <p:cNvSpPr/>
          <p:nvPr/>
        </p:nvSpPr>
        <p:spPr>
          <a:xfrm>
            <a:off x="938784" y="2725543"/>
            <a:ext cx="4815840" cy="0"/>
          </a:xfrm>
          <a:prstGeom prst="line">
            <a:avLst/>
          </a:prstGeom>
          <a:noFill/>
          <a:ln w="9525">
            <a:solidFill>
              <a:srgbClr val="888888"/>
            </a:solidFill>
            <a:prstDash val="lgDash"/>
          </a:ln>
        </p:spPr>
        <p:txBody>
          <a:bodyPr/>
          <a:lstStyle/>
          <a:p>
            <a:endParaRPr lang="en-US" sz="1867"/>
          </a:p>
        </p:txBody>
      </p:sp>
      <p:graphicFrame>
        <p:nvGraphicFramePr>
          <p:cNvPr id="18" name="Chart 1"/>
          <p:cNvGraphicFramePr/>
          <p:nvPr>
            <p:extLst>
              <p:ext uri="{D42A27DB-BD31-4B8C-83A1-F6EECF244321}">
                <p14:modId xmlns:p14="http://schemas.microsoft.com/office/powerpoint/2010/main" val="881758941"/>
              </p:ext>
            </p:extLst>
          </p:nvPr>
        </p:nvGraphicFramePr>
        <p:xfrm>
          <a:off x="6262449" y="1799248"/>
          <a:ext cx="5486400" cy="229384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0" name="Text 25"/>
          <p:cNvSpPr/>
          <p:nvPr/>
        </p:nvSpPr>
        <p:spPr>
          <a:xfrm>
            <a:off x="9631680" y="6461760"/>
            <a:ext cx="182880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1333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► MOLGROUP</a:t>
            </a:r>
            <a:endParaRPr lang="en-US" sz="1333" dirty="0"/>
          </a:p>
        </p:txBody>
      </p:sp>
      <p:sp>
        <p:nvSpPr>
          <p:cNvPr id="31" name="Text 26"/>
          <p:cNvSpPr/>
          <p:nvPr/>
        </p:nvSpPr>
        <p:spPr>
          <a:xfrm>
            <a:off x="11361907" y="6461760"/>
            <a:ext cx="610637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13</a:t>
            </a:r>
            <a:endParaRPr lang="en-US" sz="1333" dirty="0"/>
          </a:p>
        </p:txBody>
      </p:sp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20" name="Chart 19">
                <a:extLst>
                  <a:ext uri="{FF2B5EF4-FFF2-40B4-BE49-F238E27FC236}">
                    <a16:creationId xmlns:a16="http://schemas.microsoft.com/office/drawing/2014/main" id="{C2BEF17C-E870-5D8A-C9CF-DF089E240CAB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544489036"/>
                  </p:ext>
                </p:extLst>
              </p:nvPr>
            </p:nvGraphicFramePr>
            <p:xfrm>
              <a:off x="833396" y="4415315"/>
              <a:ext cx="5188081" cy="2159229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5"/>
              </a:graphicData>
            </a:graphic>
          </p:graphicFrame>
        </mc:Choice>
        <mc:Fallback xmlns="">
          <p:pic>
            <p:nvPicPr>
              <p:cNvPr id="20" name="Chart 19">
                <a:extLst>
                  <a:ext uri="{FF2B5EF4-FFF2-40B4-BE49-F238E27FC236}">
                    <a16:creationId xmlns:a16="http://schemas.microsoft.com/office/drawing/2014/main" id="{C2BEF17C-E870-5D8A-C9CF-DF089E240CA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33396" y="4415315"/>
                <a:ext cx="5188081" cy="2159229"/>
              </a:xfrm>
              <a:prstGeom prst="rect">
                <a:avLst/>
              </a:prstGeom>
            </p:spPr>
          </p:pic>
        </mc:Fallback>
      </mc:AlternateContent>
      <p:sp>
        <p:nvSpPr>
          <p:cNvPr id="2" name="Google Shape;99;g3868a5fe0ff_0_109">
            <a:extLst>
              <a:ext uri="{FF2B5EF4-FFF2-40B4-BE49-F238E27FC236}">
                <a16:creationId xmlns:a16="http://schemas.microsoft.com/office/drawing/2014/main" id="{1E740D64-54F7-1179-197A-6D95B721255A}"/>
              </a:ext>
            </a:extLst>
          </p:cNvPr>
          <p:cNvSpPr txBox="1"/>
          <p:nvPr/>
        </p:nvSpPr>
        <p:spPr>
          <a:xfrm>
            <a:off x="551411" y="363777"/>
            <a:ext cx="10979625" cy="4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E30019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[1]</a:t>
            </a:r>
            <a:endParaRPr sz="2400" b="1" i="0" u="none" strike="noStrike" cap="none" dirty="0">
              <a:solidFill>
                <a:srgbClr val="E30019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" name="Google Shape;100;g3868a5fe0ff_0_109">
            <a:extLst>
              <a:ext uri="{FF2B5EF4-FFF2-40B4-BE49-F238E27FC236}">
                <a16:creationId xmlns:a16="http://schemas.microsoft.com/office/drawing/2014/main" id="{EF943F81-E7A1-E67E-7A3C-4DDA2A3C1193}"/>
              </a:ext>
            </a:extLst>
          </p:cNvPr>
          <p:cNvSpPr txBox="1"/>
          <p:nvPr/>
        </p:nvSpPr>
        <p:spPr>
          <a:xfrm>
            <a:off x="564761" y="726904"/>
            <a:ext cx="10979625" cy="42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[2]</a:t>
            </a:r>
            <a:endParaRPr sz="1500" b="1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8" name="Google Shape;101;g3868a5fe0ff_0_109">
            <a:extLst>
              <a:ext uri="{FF2B5EF4-FFF2-40B4-BE49-F238E27FC236}">
                <a16:creationId xmlns:a16="http://schemas.microsoft.com/office/drawing/2014/main" id="{E723E542-2AE0-771C-2CC5-CE794C3C47BB}"/>
              </a:ext>
            </a:extLst>
          </p:cNvPr>
          <p:cNvSpPr txBox="1"/>
          <p:nvPr/>
        </p:nvSpPr>
        <p:spPr>
          <a:xfrm>
            <a:off x="6240933" y="4415316"/>
            <a:ext cx="5219547" cy="13905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ct val="115000"/>
              <a:buFont typeface="Calibri"/>
              <a:buChar char="⏵"/>
            </a:pPr>
            <a:r>
              <a:rPr lang="en-US" sz="13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[3]</a:t>
            </a:r>
          </a:p>
        </p:txBody>
      </p:sp>
      <p:sp>
        <p:nvSpPr>
          <p:cNvPr id="19" name="Google Shape;105;g3868a5fe0ff_0_109">
            <a:extLst>
              <a:ext uri="{FF2B5EF4-FFF2-40B4-BE49-F238E27FC236}">
                <a16:creationId xmlns:a16="http://schemas.microsoft.com/office/drawing/2014/main" id="{BBE826C1-9AF1-6755-D234-5CFA6E0124FC}"/>
              </a:ext>
            </a:extLst>
          </p:cNvPr>
          <p:cNvSpPr/>
          <p:nvPr/>
        </p:nvSpPr>
        <p:spPr>
          <a:xfrm>
            <a:off x="686787" y="1385346"/>
            <a:ext cx="5287294" cy="258344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200"/>
            </a:pP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</a:rPr>
              <a:t>NET DEBT TO EBITDA (x)</a:t>
            </a:r>
          </a:p>
        </p:txBody>
      </p:sp>
      <p:sp>
        <p:nvSpPr>
          <p:cNvPr id="22" name="Google Shape;105;g3868a5fe0ff_0_109">
            <a:extLst>
              <a:ext uri="{FF2B5EF4-FFF2-40B4-BE49-F238E27FC236}">
                <a16:creationId xmlns:a16="http://schemas.microsoft.com/office/drawing/2014/main" id="{8BFA7F04-137F-F0D3-4C36-A94FB3B7A6DA}"/>
              </a:ext>
            </a:extLst>
          </p:cNvPr>
          <p:cNvSpPr/>
          <p:nvPr/>
        </p:nvSpPr>
        <p:spPr>
          <a:xfrm>
            <a:off x="6262449" y="1406710"/>
            <a:ext cx="5287294" cy="258344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200"/>
            </a:pP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</a:rPr>
              <a:t>GEARING (%)</a:t>
            </a:r>
          </a:p>
        </p:txBody>
      </p:sp>
      <p:sp>
        <p:nvSpPr>
          <p:cNvPr id="24" name="Google Shape;105;g3868a5fe0ff_0_109">
            <a:extLst>
              <a:ext uri="{FF2B5EF4-FFF2-40B4-BE49-F238E27FC236}">
                <a16:creationId xmlns:a16="http://schemas.microsoft.com/office/drawing/2014/main" id="{387B2A35-A24C-94D8-9DF3-476D73967399}"/>
              </a:ext>
            </a:extLst>
          </p:cNvPr>
          <p:cNvSpPr/>
          <p:nvPr/>
        </p:nvSpPr>
        <p:spPr>
          <a:xfrm>
            <a:off x="686787" y="4057725"/>
            <a:ext cx="5287294" cy="258344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200"/>
            </a:pP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</a:rPr>
              <a:t>CHANGES IN NET DEBT IN FY 2025 (USD </a:t>
            </a:r>
            <a:r>
              <a:rPr lang="en-US" sz="1200" b="1" dirty="0" err="1">
                <a:solidFill>
                  <a:schemeClr val="lt1"/>
                </a:solidFill>
                <a:latin typeface="Helvetica Neue"/>
                <a:ea typeface="Helvetica Neue"/>
                <a:cs typeface="Helvetica Neue"/>
              </a:rPr>
              <a:t>mn</a:t>
            </a: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</a:rPr>
              <a:t>)</a:t>
            </a:r>
          </a:p>
        </p:txBody>
      </p:sp>
      <p:sp>
        <p:nvSpPr>
          <p:cNvPr id="25" name="Google Shape;105;g3868a5fe0ff_0_109">
            <a:extLst>
              <a:ext uri="{FF2B5EF4-FFF2-40B4-BE49-F238E27FC236}">
                <a16:creationId xmlns:a16="http://schemas.microsoft.com/office/drawing/2014/main" id="{B8E30028-ADAF-18CD-2E5C-D6F3169003E4}"/>
              </a:ext>
            </a:extLst>
          </p:cNvPr>
          <p:cNvSpPr/>
          <p:nvPr/>
        </p:nvSpPr>
        <p:spPr>
          <a:xfrm>
            <a:off x="6262449" y="4057285"/>
            <a:ext cx="5287294" cy="258344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200"/>
            </a:pP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</a:rPr>
              <a:t>COMMENTS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5" name="Google Shape;145;g3868a5fe0ff_0_132"/>
          <p:cNvPicPr preferRelativeResize="0"/>
          <p:nvPr/>
        </p:nvPicPr>
        <p:blipFill rotWithShape="1">
          <a:blip r:embed="rId3">
            <a:alphaModFix/>
          </a:blip>
          <a:srcRect l="42813" t="69223" r="50207" b="22908"/>
          <a:stretch/>
        </p:blipFill>
        <p:spPr>
          <a:xfrm>
            <a:off x="5148650" y="4742475"/>
            <a:ext cx="850799" cy="537601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g3868a5fe0ff_0_132"/>
          <p:cNvSpPr txBox="1">
            <a:spLocks noGrp="1"/>
          </p:cNvSpPr>
          <p:nvPr>
            <p:ph type="sldNum" idx="12"/>
          </p:nvPr>
        </p:nvSpPr>
        <p:spPr>
          <a:xfrm>
            <a:off x="11195623" y="6254525"/>
            <a:ext cx="524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 sz="1600" b="1"/>
              <a:t>7</a:t>
            </a:fld>
            <a:endParaRPr sz="1600" b="1"/>
          </a:p>
        </p:txBody>
      </p:sp>
      <p:pic>
        <p:nvPicPr>
          <p:cNvPr id="147" name="Google Shape;147;g3868a5fe0ff_0_132"/>
          <p:cNvPicPr preferRelativeResize="0"/>
          <p:nvPr/>
        </p:nvPicPr>
        <p:blipFill rotWithShape="1">
          <a:blip r:embed="rId4">
            <a:alphaModFix/>
          </a:blip>
          <a:srcRect l="80294" t="91228" r="5909"/>
          <a:stretch/>
        </p:blipFill>
        <p:spPr>
          <a:xfrm>
            <a:off x="9734358" y="6232450"/>
            <a:ext cx="1681825" cy="599275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g3868a5fe0ff_0_132"/>
          <p:cNvSpPr txBox="1"/>
          <p:nvPr/>
        </p:nvSpPr>
        <p:spPr>
          <a:xfrm>
            <a:off x="138517" y="288471"/>
            <a:ext cx="11070600" cy="4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>
                <a:solidFill>
                  <a:srgbClr val="E30019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UPSTREAM: OPERATIONAL UPDATE (1)</a:t>
            </a:r>
            <a:endParaRPr sz="2400" b="1" i="0" u="none" strike="noStrike" cap="none">
              <a:solidFill>
                <a:srgbClr val="E30019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49" name="Google Shape;149;g3868a5fe0ff_0_132"/>
          <p:cNvSpPr txBox="1"/>
          <p:nvPr/>
        </p:nvSpPr>
        <p:spPr>
          <a:xfrm>
            <a:off x="181035" y="1005021"/>
            <a:ext cx="1278600" cy="43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E30019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Hungary</a:t>
            </a:r>
            <a:endParaRPr sz="1800" b="1" i="0" u="none" strike="noStrike" cap="none">
              <a:solidFill>
                <a:srgbClr val="E30019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50" name="Google Shape;150;g3868a5fe0ff_0_132"/>
          <p:cNvSpPr txBox="1"/>
          <p:nvPr/>
        </p:nvSpPr>
        <p:spPr>
          <a:xfrm>
            <a:off x="6122552" y="995617"/>
            <a:ext cx="1278600" cy="43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E30019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Croatia</a:t>
            </a:r>
            <a:endParaRPr sz="1800" b="1" i="0" u="none" strike="noStrike" cap="none">
              <a:solidFill>
                <a:srgbClr val="E30019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51" name="Google Shape;151;g3868a5fe0ff_0_132"/>
          <p:cNvSpPr txBox="1"/>
          <p:nvPr/>
        </p:nvSpPr>
        <p:spPr>
          <a:xfrm>
            <a:off x="232618" y="4840784"/>
            <a:ext cx="1409700" cy="43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E30019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Azerbaijan</a:t>
            </a:r>
            <a:endParaRPr sz="1800" b="1" i="0" u="none" strike="noStrike" cap="none">
              <a:solidFill>
                <a:srgbClr val="E30019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52" name="Google Shape;152;g3868a5fe0ff_0_132"/>
          <p:cNvSpPr txBox="1"/>
          <p:nvPr/>
        </p:nvSpPr>
        <p:spPr>
          <a:xfrm>
            <a:off x="6114548" y="4465978"/>
            <a:ext cx="1278600" cy="43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E30019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Egypt</a:t>
            </a:r>
            <a:endParaRPr sz="1800" b="1" i="0" u="none" strike="noStrike" cap="none">
              <a:solidFill>
                <a:srgbClr val="E30019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53" name="Google Shape;153;g3868a5fe0ff_0_132"/>
          <p:cNvSpPr txBox="1"/>
          <p:nvPr/>
        </p:nvSpPr>
        <p:spPr>
          <a:xfrm>
            <a:off x="344275" y="1604275"/>
            <a:ext cx="5655300" cy="93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ts val="1300"/>
              <a:buFont typeface="Calibri"/>
              <a:buChar char="⏵"/>
            </a:pPr>
            <a:r>
              <a:rPr lang="en-US" sz="13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[1]</a:t>
            </a:r>
            <a:endParaRPr sz="13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g3868a5fe0ff_0_132"/>
          <p:cNvSpPr txBox="1"/>
          <p:nvPr/>
        </p:nvSpPr>
        <p:spPr>
          <a:xfrm>
            <a:off x="344275" y="2663075"/>
            <a:ext cx="5655300" cy="5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ts val="1300"/>
              <a:buFont typeface="Calibri"/>
              <a:buChar char="⏵"/>
            </a:pPr>
            <a:r>
              <a:rPr lang="en-US" sz="13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[2]</a:t>
            </a:r>
            <a:endParaRPr sz="13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g3868a5fe0ff_0_132"/>
          <p:cNvSpPr txBox="1"/>
          <p:nvPr/>
        </p:nvSpPr>
        <p:spPr>
          <a:xfrm>
            <a:off x="344275" y="3301975"/>
            <a:ext cx="56553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ts val="1300"/>
              <a:buFont typeface="Calibri"/>
              <a:buChar char="⏵"/>
            </a:pPr>
            <a:r>
              <a:rPr lang="en-US" sz="13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[3]</a:t>
            </a:r>
            <a:endParaRPr sz="13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g3868a5fe0ff_0_132"/>
          <p:cNvSpPr txBox="1"/>
          <p:nvPr/>
        </p:nvSpPr>
        <p:spPr>
          <a:xfrm>
            <a:off x="344275" y="3763250"/>
            <a:ext cx="56553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ts val="1300"/>
              <a:buFont typeface="Calibri"/>
              <a:buChar char="⏵"/>
            </a:pPr>
            <a:r>
              <a:rPr lang="en-US" sz="13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[4]</a:t>
            </a:r>
            <a:endParaRPr sz="13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g3868a5fe0ff_0_132"/>
          <p:cNvSpPr txBox="1"/>
          <p:nvPr/>
        </p:nvSpPr>
        <p:spPr>
          <a:xfrm>
            <a:off x="344275" y="5280075"/>
            <a:ext cx="5655300" cy="133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ts val="1300"/>
              <a:buFont typeface="Calibri"/>
              <a:buChar char="⏵"/>
            </a:pPr>
            <a:r>
              <a:rPr lang="en-US" sz="13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[9]</a:t>
            </a:r>
            <a:endParaRPr sz="13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g3868a5fe0ff_0_132"/>
          <p:cNvSpPr txBox="1"/>
          <p:nvPr/>
        </p:nvSpPr>
        <p:spPr>
          <a:xfrm>
            <a:off x="6240750" y="4857200"/>
            <a:ext cx="5729700" cy="176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ts val="1300"/>
              <a:buFont typeface="Calibri"/>
              <a:buChar char="⏵"/>
            </a:pPr>
            <a:r>
              <a:rPr lang="en-US" sz="13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[10]</a:t>
            </a:r>
            <a:endParaRPr sz="13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g3868a5fe0ff_0_132"/>
          <p:cNvSpPr txBox="1"/>
          <p:nvPr/>
        </p:nvSpPr>
        <p:spPr>
          <a:xfrm>
            <a:off x="228554" y="1421113"/>
            <a:ext cx="1364100" cy="2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EXPLORATION</a:t>
            </a:r>
            <a:endParaRPr sz="1100" b="1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0" name="Google Shape;160;g3868a5fe0ff_0_132"/>
          <p:cNvSpPr txBox="1"/>
          <p:nvPr/>
        </p:nvSpPr>
        <p:spPr>
          <a:xfrm>
            <a:off x="228550" y="2480475"/>
            <a:ext cx="1712100" cy="2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FIELD DEVELOPMENT</a:t>
            </a:r>
            <a:endParaRPr sz="1100" b="1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1" name="Google Shape;161;g3868a5fe0ff_0_132"/>
          <p:cNvSpPr txBox="1"/>
          <p:nvPr/>
        </p:nvSpPr>
        <p:spPr>
          <a:xfrm>
            <a:off x="228550" y="3127000"/>
            <a:ext cx="2339700" cy="2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PRODUCTION OPTIMIZATION</a:t>
            </a:r>
            <a:endParaRPr sz="1100" b="1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2" name="Google Shape;162;g3868a5fe0ff_0_132"/>
          <p:cNvSpPr txBox="1"/>
          <p:nvPr/>
        </p:nvSpPr>
        <p:spPr>
          <a:xfrm>
            <a:off x="228550" y="3581725"/>
            <a:ext cx="850800" cy="2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OTHER</a:t>
            </a:r>
            <a:endParaRPr sz="1100" b="1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3" name="Google Shape;163;g3868a5fe0ff_0_132"/>
          <p:cNvSpPr txBox="1"/>
          <p:nvPr/>
        </p:nvSpPr>
        <p:spPr>
          <a:xfrm>
            <a:off x="6192900" y="1604275"/>
            <a:ext cx="5729700" cy="5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ts val="1300"/>
              <a:buFont typeface="Calibri"/>
              <a:buChar char="⏵"/>
            </a:pPr>
            <a:r>
              <a:rPr lang="en-US" sz="13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[5]</a:t>
            </a:r>
            <a:endParaRPr sz="13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g3868a5fe0ff_0_132"/>
          <p:cNvSpPr txBox="1"/>
          <p:nvPr/>
        </p:nvSpPr>
        <p:spPr>
          <a:xfrm>
            <a:off x="6192900" y="2241500"/>
            <a:ext cx="5729700" cy="111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ts val="1300"/>
              <a:buFont typeface="Calibri"/>
              <a:buChar char="⏵"/>
            </a:pPr>
            <a:r>
              <a:rPr lang="en-US" sz="13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[6]</a:t>
            </a:r>
            <a:endParaRPr sz="13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g3868a5fe0ff_0_132"/>
          <p:cNvSpPr txBox="1"/>
          <p:nvPr/>
        </p:nvSpPr>
        <p:spPr>
          <a:xfrm>
            <a:off x="6192900" y="3476775"/>
            <a:ext cx="56553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ts val="1300"/>
              <a:buFont typeface="Calibri"/>
              <a:buChar char="⏵"/>
            </a:pPr>
            <a:r>
              <a:rPr lang="en-US" sz="13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[7]</a:t>
            </a:r>
            <a:endParaRPr sz="13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g3868a5fe0ff_0_132"/>
          <p:cNvSpPr txBox="1"/>
          <p:nvPr/>
        </p:nvSpPr>
        <p:spPr>
          <a:xfrm>
            <a:off x="6192900" y="3938050"/>
            <a:ext cx="5655300" cy="59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ts val="1300"/>
              <a:buFont typeface="Calibri"/>
              <a:buChar char="⏵"/>
            </a:pPr>
            <a:r>
              <a:rPr lang="en-US" sz="13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[8]</a:t>
            </a:r>
            <a:endParaRPr sz="13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g3868a5fe0ff_0_132"/>
          <p:cNvSpPr txBox="1"/>
          <p:nvPr/>
        </p:nvSpPr>
        <p:spPr>
          <a:xfrm>
            <a:off x="6077179" y="1421113"/>
            <a:ext cx="1364100" cy="2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EXPLORATION</a:t>
            </a:r>
            <a:endParaRPr sz="1100" b="1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8" name="Google Shape;168;g3868a5fe0ff_0_132"/>
          <p:cNvSpPr txBox="1"/>
          <p:nvPr/>
        </p:nvSpPr>
        <p:spPr>
          <a:xfrm>
            <a:off x="6077175" y="2058900"/>
            <a:ext cx="3337200" cy="2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FIELD DEVELOPMENT AND PRODUCTION</a:t>
            </a:r>
            <a:endParaRPr sz="1100" b="1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9" name="Google Shape;169;g3868a5fe0ff_0_132"/>
          <p:cNvSpPr txBox="1"/>
          <p:nvPr/>
        </p:nvSpPr>
        <p:spPr>
          <a:xfrm>
            <a:off x="6077175" y="3301803"/>
            <a:ext cx="2339700" cy="2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PRODUCTION OPTIMIZATION</a:t>
            </a:r>
            <a:endParaRPr sz="1100" b="1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70" name="Google Shape;170;g3868a5fe0ff_0_132"/>
          <p:cNvSpPr txBox="1"/>
          <p:nvPr/>
        </p:nvSpPr>
        <p:spPr>
          <a:xfrm>
            <a:off x="6077175" y="3756525"/>
            <a:ext cx="1228800" cy="2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GEOTHERMAL</a:t>
            </a:r>
            <a:endParaRPr sz="1100" b="1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171" name="Google Shape;171;g3868a5fe0ff_0_132"/>
          <p:cNvPicPr preferRelativeResize="0"/>
          <p:nvPr/>
        </p:nvPicPr>
        <p:blipFill rotWithShape="1">
          <a:blip r:embed="rId3">
            <a:alphaModFix/>
          </a:blip>
          <a:srcRect l="91393" t="65176" r="1626" b="27934"/>
          <a:stretch/>
        </p:blipFill>
        <p:spPr>
          <a:xfrm>
            <a:off x="11071650" y="4465975"/>
            <a:ext cx="850799" cy="4706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g3868a5fe0ff_0_132"/>
          <p:cNvPicPr preferRelativeResize="0"/>
          <p:nvPr/>
        </p:nvPicPr>
        <p:blipFill rotWithShape="1">
          <a:blip r:embed="rId3">
            <a:alphaModFix/>
          </a:blip>
          <a:srcRect l="42813" t="13007" r="49264" b="78219"/>
          <a:stretch/>
        </p:blipFill>
        <p:spPr>
          <a:xfrm>
            <a:off x="5148650" y="901025"/>
            <a:ext cx="965900" cy="5994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" name="Google Shape;173;g3868a5fe0ff_0_132"/>
          <p:cNvPicPr preferRelativeResize="0"/>
          <p:nvPr/>
        </p:nvPicPr>
        <p:blipFill rotWithShape="1">
          <a:blip r:embed="rId3">
            <a:alphaModFix/>
          </a:blip>
          <a:srcRect l="91393" t="13007" r="1626" b="78219"/>
          <a:stretch/>
        </p:blipFill>
        <p:spPr>
          <a:xfrm>
            <a:off x="11071650" y="901025"/>
            <a:ext cx="850799" cy="5994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 2013 - 2022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 2013 - 2022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339</TotalTime>
  <Words>249</Words>
  <Application>Microsoft Office PowerPoint</Application>
  <PresentationFormat>Szélesvásznú</PresentationFormat>
  <Paragraphs>88</Paragraphs>
  <Slides>7</Slides>
  <Notes>7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7</vt:i4>
      </vt:variant>
    </vt:vector>
  </HeadingPairs>
  <TitlesOfParts>
    <vt:vector size="11" baseType="lpstr">
      <vt:lpstr>Calibri</vt:lpstr>
      <vt:lpstr>Helvetica Neue</vt:lpstr>
      <vt:lpstr>Arial</vt:lpstr>
      <vt:lpstr>Office Theme 2013 - 2022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Tagscherer Ármin</dc:creator>
  <cp:lastModifiedBy>Gergő Sárffy</cp:lastModifiedBy>
  <cp:revision>49</cp:revision>
  <dcterms:created xsi:type="dcterms:W3CDTF">2024-06-17T17:09:36Z</dcterms:created>
  <dcterms:modified xsi:type="dcterms:W3CDTF">2026-03-02T22:25:59Z</dcterms:modified>
</cp:coreProperties>
</file>